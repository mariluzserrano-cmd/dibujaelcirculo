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Bienvenida — entra a las 7:00, deja espacio para que la gente se conecte y prueba audio/video. Arranca puntual a las 7:07 con una oración breve de una frase, no un discurso.
Encuadre: hoy es la apertura del Bloque I — Contemplamos quién es Dios — vamos a mirar juntos los primeros cuatro días (10 al 13 de agosto) y a preparar el terreno metodológico para toda la Ronda 12.
[Añade aquí tu frase personal de bienvenida si quieres algo distinto a la oración de una línea.]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Vista rápida del reloj para tenerla a mano durante el Meet. Tus 25 minutos de voz son: bienvenida (3) + metodología (7) + recorrido de los 4 días (15).
Si algún bloque se alarga, el que tiene más colchón es 'conversación abierta' (7:57-8:03) — se puede acortar sin que se note, para no atrasar la oración de las 8:08.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Explica en tus palabras, apoyada en el documento maestro (sección 1, Visión de la Ronda 12):
- La brújula: Juan 5:39.
- La metodología de ecos: conexiones temáticas, no equivalencias forzadas.
- Las dos capas: NTV para el día a día, Reina-Valera de estudio + categorías (Biblia Arcoíris) para profundizar aquí en los encuentros.
- Cobertura total: 66 capítulos de Isaías + 22 de Apocalipsis en 40 días.
[Espacio para tu ejemplo personal de por qué elegiste este método de 'ecos' en vez de un estudio verso por verso.]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Aquí cierras tus 25 minutos de voz. No expliques los cuatro días con el mismo peso — dale más aire al Día 1 (abre el bloque) y al Día 3 (el que más pregunta comunitaria genera, por las cartas a las 7 iglesias, que retomamos más adelante hoy).
Día 1 (10/8): Isaías 6 y Apocalipsis 4 son visiones del mismo trono, separadas por siglos.
Día 2 (11/8): la gloria vista se convierte en canto — adorar es la respuesta natural.
Día 3 (12/8): Isaías confronta a un pueblo que se alejó; Jesús confronta a siete iglesias reales. Puente directo hacia el bloque de Apocalipsis de hoy.
Día 4 (13/8 - hoy mismo): bonito que coincida con la fecha del encuentro. El miedo pierde poder cuando se sabe quién está de pie en medio del candelero.
[Aquí puedes anotar qué compartió cada lector(a) en su grabación si quieres mencionarlo en vivo.]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minutos, comunidad al frente. Tu rol aquí es moderar, no enseñar.
Detalle práctico: pide que no levanten la mano en orden de lista — que fluya orgánico, así se siente más 'círculo' y menos 'clase'.
Si el grupo es tímido al inicio, tú misma pon la primera palabra en el círculo para romper el hielo (por ejemplo: 'santo', 'trono', 'digno').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el mapa real de tu Biblia de estudio arcoíris — muéstralo con calma y señala la ruta: desde Patmos el mensaje viajaría primero a Éfeso, luego al norte a Esmirna y Pérgamo, y bajaría hacia Tiatira, Sardis, Filadelfia y Laodicea. Una ruta postal romana real, en el orden exacto en que aparecen las cartas.
La ilustración de Juan encadenado bajo los siete candeleros ayuda a sentir el contraste: un anciano preso en una isla — y sobre él, toda la iglesia representada en luz.
Recuerda mencionar las fuentes en voz alta (aparecen al pie de cada imagen y en la diapositiva de referencias).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Siete congregaciones reales del siglo I, ubicadas en Asia Menor (Turquía actual), en el orden exacto de una ruta postal romana circular.
El número siete: en el simbolismo bíblico apunta también a plenitud — estas siete representan, en conjunto, a la iglesia completa a través del tiempo, no solo a esas siete ciudades puntuales.
Si tienes fotos de los restos arqueológicos (de tu libro o de otra fuente), este es el momento de compartir pantalla — esta diapositiva se diseñó sin fotografías por respeto a los derechos de autor de las publicaciones originales.
[Espacio para una frase personal de aplicación por cada iglesia, si te da tiempo.]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Estos significados vienen de la tabla de 'Números simbólicos en Revelación' de tu Biblia de estudio arcoíris (Holman Bible Publishers, 2015) — cítala en voz alta si la muestras en pantalla.
Puente con la Torá: casi todos estos números tienen su raíz en el Antiguo Testamento — el 7 en la creación, el 12 en las tribus de Israel. Apocalipsis no inventa un código nuevo: retoma el lenguaje simbólico que ya usaba la Escritura hebrea.
Nota importante para la conversación de hoy: la tabla original de la que salió este resumen numérico aparece también en material publicado por los Testigos de Jehová (Watch Tower Bible and Tract Society, 1988) — ver la siguiente diapositiva de contexto antes de presentar esta parte, para distinguir con la comunidad qué es información histórica compartida y qué es interpretación doctrinal particular de esa fuente.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patrón se repite en las siete cartas con variaciones — no todas tienen las cuatro partes completas (Esmirna y Filadelfia no reciben reprensión, por ejemplo). Vale la pena mencionarlo si el grupo pregunta.
Puente directo de regreso al eco del Día 3 ('El pecado rompe la comunión / Vuelve al centro') — cierra el círculo metodológico de la noche: empezamos viendo el trono (Día 1) y terminamos entendiendo cómo Quien está en el trono corrige con amor.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el momento de ser transparente con la comunidad: pueden usar los datos históricos/geográficos con toda confianza, y disfrutar las ilustraciones del libro de 1988 como recurso visual — pero conviene nombrar en voz alta, con cariño y sin polemizar, que la teología de fondo de esa publicación (la naturaleza de Jesús, la autoridad interpretativa central, la escatología) no es la que sostiene Hermanos Circuleños ni la mayoría de las tradiciones cristianas.
Sugerencia de frase para decirlo en vivo: 'Estas imágenes me encantan para visualizar el texto, y las comparto con ustedes hoy — pero quiero ser clara en que la interpretación teológica que sostenemos como Circuleños es la del cristianismo histórico, no la de esa editorial específica.'
No es necesario profundizar mucho aquí — una mención breve, honesta y respetuosa basta; el objetivo es dar contexto, no abrir un debate doctrinal en el encuentro de apertura.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Referencias en formato APA 7 listas para copiar al documento maestro o a cualquier material impreso de esta ronda.
Ajusta el título exacto de la Biblia de estudio arcoíris si difiere del que me diste de memoria — con gusto lo corrijo en cuanto me confirmes el dato exacto de la portada.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Invita a una oración breve compartida — una frase cada quien, o cierras tú misma — y despides puntual a las 8:08.
[Espacio para tu oración personal de cierre si prefieres escribirla antes en vez de improvisarla en vivo.]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image" Target="../media/image-6-2.jp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3C2818"/>
        </a:solidFill>
      </p:bgPr>
    </p:bg>
    <p:spTree>
      <p:nvGrpSpPr>
        <p:cNvPr id="1" name=""/>
        <p:cNvGrpSpPr/>
        <p:nvPr/>
      </p:nvGrpSpPr>
      <p:grpSpPr>
        <a:xfrm>
          <a:off x="0" y="0"/>
          <a:ext cx="0" cy="0"/>
          <a:chOff x="0" y="0"/>
          <a:chExt cx="0" cy="0"/>
        </a:xfrm>
      </p:grpSpPr>
      <p:sp>
        <p:nvSpPr>
          <p:cNvPr id="2" name="Shape 0"/>
          <p:cNvSpPr/>
          <p:nvPr/>
        </p:nvSpPr>
        <p:spPr>
          <a:xfrm>
            <a:off x="9265615" y="-1463040"/>
            <a:ext cx="4206240" cy="4206240"/>
          </a:xfrm>
          <a:prstGeom prst="ellipse">
            <a:avLst/>
          </a:prstGeom>
          <a:ln w="31750">
            <a:solidFill>
              <a:srgbClr val="6E3550"/>
            </a:solidFill>
            <a:prstDash val="solid"/>
          </a:ln>
        </p:spPr>
      </p:sp>
      <p:sp>
        <p:nvSpPr>
          <p:cNvPr id="3" name="Shape 1"/>
          <p:cNvSpPr/>
          <p:nvPr/>
        </p:nvSpPr>
        <p:spPr>
          <a:xfrm>
            <a:off x="-1645920" y="4480560"/>
            <a:ext cx="3840480" cy="3840480"/>
          </a:xfrm>
          <a:prstGeom prst="ellipse">
            <a:avLst/>
          </a:prstGeom>
          <a:ln w="25400">
            <a:solidFill>
              <a:srgbClr val="C9A24B"/>
            </a:solidFill>
            <a:prstDash val="solid"/>
          </a:ln>
        </p:spPr>
      </p:sp>
      <p:sp>
        <p:nvSpPr>
          <p:cNvPr id="4" name="Shape 2"/>
          <p:cNvSpPr/>
          <p:nvPr/>
        </p:nvSpPr>
        <p:spPr>
          <a:xfrm>
            <a:off x="10271455" y="4846320"/>
            <a:ext cx="2194560" cy="2194560"/>
          </a:xfrm>
          <a:prstGeom prst="ellipse">
            <a:avLst/>
          </a:prstGeom>
          <a:ln w="19050">
            <a:solidFill>
              <a:srgbClr val="C0704F"/>
            </a:solidFill>
            <a:prstDash val="solid"/>
          </a:ln>
        </p:spPr>
      </p:sp>
      <p:sp>
        <p:nvSpPr>
          <p:cNvPr id="5" name="Text 3"/>
          <p:cNvSpPr/>
          <p:nvPr/>
        </p:nvSpPr>
        <p:spPr>
          <a:xfrm>
            <a:off x="822960" y="1417320"/>
            <a:ext cx="7680960" cy="457200"/>
          </a:xfrm>
          <a:prstGeom prst="rect">
            <a:avLst/>
          </a:prstGeom>
          <a:noFill/>
          <a:ln/>
        </p:spPr>
        <p:txBody>
          <a:bodyPr wrap="square" rtlCol="0" anchor="ctr"/>
          <a:lstStyle/>
          <a:p>
            <a:pPr algn="l" indent="0" marL="0">
              <a:buNone/>
            </a:pPr>
            <a:r>
              <a:rPr lang="en-US" sz="1500" b="1" spc="300" kern="0" dirty="0">
                <a:solidFill>
                  <a:srgbClr val="E4C77A"/>
                </a:solidFill>
                <a:latin typeface="Calibri" pitchFamily="34" charset="0"/>
                <a:ea typeface="Calibri" pitchFamily="34" charset="-122"/>
                <a:cs typeface="Calibri" pitchFamily="34" charset="-120"/>
              </a:rPr>
              <a:t>DIBUJA EL CÍRCULO  ·  RONDA 12</a:t>
            </a:r>
            <a:endParaRPr lang="en-US" sz="1500" dirty="0"/>
          </a:p>
        </p:txBody>
      </p:sp>
      <p:sp>
        <p:nvSpPr>
          <p:cNvPr id="6" name="Text 4"/>
          <p:cNvSpPr/>
          <p:nvPr/>
        </p:nvSpPr>
        <p:spPr>
          <a:xfrm>
            <a:off x="777240" y="1874520"/>
            <a:ext cx="7680960" cy="1005840"/>
          </a:xfrm>
          <a:prstGeom prst="rect">
            <a:avLst/>
          </a:prstGeom>
          <a:noFill/>
          <a:ln/>
        </p:spPr>
        <p:txBody>
          <a:bodyPr wrap="square" rtlCol="0" anchor="ctr"/>
          <a:lstStyle/>
          <a:p>
            <a:pPr algn="l" indent="0" marL="0">
              <a:buNone/>
            </a:pPr>
            <a:r>
              <a:rPr lang="en-US" sz="4400" b="1" dirty="0">
                <a:solidFill>
                  <a:srgbClr val="F7F1E4"/>
                </a:solidFill>
                <a:latin typeface="Cambria" pitchFamily="34" charset="0"/>
                <a:ea typeface="Cambria" pitchFamily="34" charset="-122"/>
                <a:cs typeface="Cambria" pitchFamily="34" charset="-120"/>
              </a:rPr>
              <a:t>Apertura Metodológica</a:t>
            </a:r>
            <a:endParaRPr lang="en-US" sz="4400" dirty="0"/>
          </a:p>
        </p:txBody>
      </p:sp>
      <p:sp>
        <p:nvSpPr>
          <p:cNvPr id="7" name="Text 5"/>
          <p:cNvSpPr/>
          <p:nvPr/>
        </p:nvSpPr>
        <p:spPr>
          <a:xfrm>
            <a:off x="822960" y="2788920"/>
            <a:ext cx="7498080" cy="548640"/>
          </a:xfrm>
          <a:prstGeom prst="rect">
            <a:avLst/>
          </a:prstGeom>
          <a:noFill/>
          <a:ln/>
        </p:spPr>
        <p:txBody>
          <a:bodyPr wrap="square" rtlCol="0" anchor="ctr"/>
          <a:lstStyle/>
          <a:p>
            <a:pPr algn="l" indent="0" marL="0">
              <a:buNone/>
            </a:pPr>
            <a:r>
              <a:rPr lang="en-US" sz="2000" i="1" dirty="0">
                <a:solidFill>
                  <a:srgbClr val="E4C77A"/>
                </a:solidFill>
                <a:latin typeface="Cambria" pitchFamily="34" charset="0"/>
                <a:ea typeface="Cambria" pitchFamily="34" charset="-122"/>
                <a:cs typeface="Cambria" pitchFamily="34" charset="-120"/>
              </a:rPr>
              <a:t>¿Cómo leer Isaías y Apocalipsis? + primeros ecos</a:t>
            </a:r>
            <a:endParaRPr lang="en-US" sz="2000" dirty="0"/>
          </a:p>
        </p:txBody>
      </p:sp>
      <p:pic>
        <p:nvPicPr>
          <p:cNvPr id="8" name="Image 0" descr="/home/claude/ronda12_pptx/logo_big.png">    </p:cNvPr>
          <p:cNvPicPr>
            <a:picLocks noChangeAspect="1"/>
          </p:cNvPicPr>
          <p:nvPr/>
        </p:nvPicPr>
        <p:blipFill>
          <a:blip r:embed="rId1"/>
          <a:stretch>
            <a:fillRect/>
          </a:stretch>
        </p:blipFill>
        <p:spPr>
          <a:xfrm>
            <a:off x="8732520" y="1783080"/>
            <a:ext cx="2834640" cy="2871216"/>
          </a:xfrm>
          <a:prstGeom prst="rect">
            <a:avLst/>
          </a:prstGeom>
        </p:spPr>
      </p:pic>
      <p:sp>
        <p:nvSpPr>
          <p:cNvPr id="9" name="Shape 6"/>
          <p:cNvSpPr/>
          <p:nvPr/>
        </p:nvSpPr>
        <p:spPr>
          <a:xfrm>
            <a:off x="822960" y="3520440"/>
            <a:ext cx="2926080" cy="0"/>
          </a:xfrm>
          <a:prstGeom prst="line">
            <a:avLst/>
          </a:prstGeom>
          <a:noFill/>
          <a:ln w="25400">
            <a:solidFill>
              <a:srgbClr val="C0704F"/>
            </a:solidFill>
            <a:prstDash val="solid"/>
          </a:ln>
        </p:spPr>
      </p:sp>
      <p:sp>
        <p:nvSpPr>
          <p:cNvPr id="10" name="Text 7"/>
          <p:cNvSpPr/>
          <p:nvPr/>
        </p:nvSpPr>
        <p:spPr>
          <a:xfrm>
            <a:off x="822960" y="3794760"/>
            <a:ext cx="10362895" cy="365760"/>
          </a:xfrm>
          <a:prstGeom prst="rect">
            <a:avLst/>
          </a:prstGeom>
          <a:noFill/>
          <a:ln/>
        </p:spPr>
        <p:txBody>
          <a:bodyPr wrap="square" rtlCol="0" anchor="ctr"/>
          <a:lstStyle/>
          <a:p>
            <a:pPr indent="0" marL="0">
              <a:buNone/>
            </a:pPr>
            <a:r>
              <a:rPr lang="en-US" sz="1500" b="1" dirty="0">
                <a:solidFill>
                  <a:srgbClr val="F7F1E4"/>
                </a:solidFill>
                <a:latin typeface="Calibri" pitchFamily="34" charset="0"/>
                <a:ea typeface="Calibri" pitchFamily="34" charset="-122"/>
                <a:cs typeface="Calibri" pitchFamily="34" charset="-120"/>
              </a:rPr>
              <a:t>Jueves 13 de agosto · 7:07 – 8:08 p. m.  </a:t>
            </a:r>
            <a:pPr indent="0" marL="0">
              <a:buNone/>
            </a:pPr>
            <a:r>
              <a:rPr lang="en-US" sz="1500" i="1" dirty="0">
                <a:solidFill>
                  <a:srgbClr val="E4C77A"/>
                </a:solidFill>
                <a:latin typeface="Calibri" pitchFamily="34" charset="0"/>
                <a:ea typeface="Calibri" pitchFamily="34" charset="-122"/>
                <a:cs typeface="Calibri" pitchFamily="34" charset="-120"/>
              </a:rPr>
              <a:t>(America/Puerto_Rico)</a:t>
            </a:r>
            <a:endParaRPr lang="en-US" sz="1500" dirty="0"/>
          </a:p>
        </p:txBody>
      </p:sp>
      <p:sp>
        <p:nvSpPr>
          <p:cNvPr id="11" name="Text 8"/>
          <p:cNvSpPr/>
          <p:nvPr/>
        </p:nvSpPr>
        <p:spPr>
          <a:xfrm>
            <a:off x="822960" y="4160520"/>
            <a:ext cx="10362895" cy="365760"/>
          </a:xfrm>
          <a:prstGeom prst="rect">
            <a:avLst/>
          </a:prstGeom>
          <a:noFill/>
          <a:ln/>
        </p:spPr>
        <p:txBody>
          <a:bodyPr wrap="square" rtlCol="0" anchor="ctr"/>
          <a:lstStyle/>
          <a:p>
            <a:pPr indent="0" marL="0">
              <a:buNone/>
            </a:pPr>
            <a:r>
              <a:rPr lang="en-US" sz="1500" dirty="0">
                <a:solidFill>
                  <a:srgbClr val="F7F1E4"/>
                </a:solidFill>
                <a:latin typeface="Calibri" pitchFamily="34" charset="0"/>
                <a:ea typeface="Calibri" pitchFamily="34" charset="-122"/>
                <a:cs typeface="Calibri" pitchFamily="34" charset="-120"/>
              </a:rPr>
              <a:t>Google Meet: meet.google.com/npn-svjt-djj</a:t>
            </a:r>
            <a:endParaRPr lang="en-US" sz="1500" dirty="0"/>
          </a:p>
        </p:txBody>
      </p:sp>
      <p:sp>
        <p:nvSpPr>
          <p:cNvPr id="12" name="Text 9"/>
          <p:cNvSpPr/>
          <p:nvPr/>
        </p:nvSpPr>
        <p:spPr>
          <a:xfrm>
            <a:off x="822960" y="5943600"/>
            <a:ext cx="10545775" cy="548640"/>
          </a:xfrm>
          <a:prstGeom prst="rect">
            <a:avLst/>
          </a:prstGeom>
          <a:noFill/>
          <a:ln/>
        </p:spPr>
        <p:txBody>
          <a:bodyPr wrap="square" rtlCol="0" anchor="ctr"/>
          <a:lstStyle/>
          <a:p>
            <a:pPr indent="0" marL="0">
              <a:buNone/>
            </a:pPr>
            <a:r>
              <a:rPr lang="en-US" sz="1300" i="1" dirty="0">
                <a:solidFill>
                  <a:srgbClr val="E4C77A"/>
                </a:solidFill>
                <a:latin typeface="Cambria" pitchFamily="34" charset="0"/>
                <a:ea typeface="Cambria" pitchFamily="34" charset="-122"/>
                <a:cs typeface="Cambria" pitchFamily="34" charset="-120"/>
              </a:rPr>
              <a:t>"Ustedes estudian con diligencia las Escrituras... ¡y son ellas las que dan testimonio de mí!"  ·  Juan 5:39</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1E4"/>
        </a:solidFill>
      </p:bgPr>
    </p:bg>
    <p:spTree>
      <p:nvGrpSpPr>
        <p:cNvPr id="1" name=""/>
        <p:cNvGrpSpPr/>
        <p:nvPr/>
      </p:nvGrpSpPr>
      <p:grpSpPr>
        <a:xfrm>
          <a:off x="0" y="0"/>
          <a:ext cx="0" cy="0"/>
          <a:chOff x="0" y="0"/>
          <a:chExt cx="0" cy="0"/>
        </a:xfrm>
      </p:grpSpPr>
      <p:sp>
        <p:nvSpPr>
          <p:cNvPr id="2" name="Text 0"/>
          <p:cNvSpPr/>
          <p:nvPr/>
        </p:nvSpPr>
        <p:spPr>
          <a:xfrm>
            <a:off x="548640" y="365760"/>
            <a:ext cx="7315200" cy="640080"/>
          </a:xfrm>
          <a:prstGeom prst="rect">
            <a:avLst/>
          </a:prstGeom>
          <a:noFill/>
          <a:ln/>
        </p:spPr>
        <p:txBody>
          <a:bodyPr wrap="square" rtlCol="0" anchor="ctr"/>
          <a:lstStyle/>
          <a:p>
            <a:pPr indent="0" marL="0">
              <a:buNone/>
            </a:pPr>
            <a:r>
              <a:rPr lang="en-US" sz="3200" b="1" dirty="0">
                <a:solidFill>
                  <a:srgbClr val="6E3550"/>
                </a:solidFill>
                <a:latin typeface="Cambria" pitchFamily="34" charset="0"/>
                <a:ea typeface="Cambria" pitchFamily="34" charset="-122"/>
                <a:cs typeface="Cambria" pitchFamily="34" charset="-120"/>
              </a:rPr>
              <a:t>Minutaje del encuentro</a:t>
            </a:r>
            <a:endParaRPr lang="en-US" sz="3200" dirty="0"/>
          </a:p>
        </p:txBody>
      </p:sp>
      <p:sp>
        <p:nvSpPr>
          <p:cNvPr id="3" name="Text 1"/>
          <p:cNvSpPr/>
          <p:nvPr/>
        </p:nvSpPr>
        <p:spPr>
          <a:xfrm>
            <a:off x="548640" y="932688"/>
            <a:ext cx="7315200" cy="365760"/>
          </a:xfrm>
          <a:prstGeom prst="rect">
            <a:avLst/>
          </a:prstGeom>
          <a:noFill/>
          <a:ln/>
        </p:spPr>
        <p:txBody>
          <a:bodyPr wrap="square" rtlCol="0" anchor="ctr"/>
          <a:lstStyle/>
          <a:p>
            <a:pPr indent="0" marL="0">
              <a:buNone/>
            </a:pPr>
            <a:r>
              <a:rPr lang="en-US" sz="1400" i="1" dirty="0">
                <a:solidFill>
                  <a:srgbClr val="C0704F"/>
                </a:solidFill>
                <a:latin typeface="Calibri" pitchFamily="34" charset="0"/>
                <a:ea typeface="Calibri" pitchFamily="34" charset="-122"/>
                <a:cs typeface="Calibri" pitchFamily="34" charset="-120"/>
              </a:rPr>
              <a:t>61 minutos exactos · 7:07 – 8:08 p. m.</a:t>
            </a:r>
            <a:endParaRPr lang="en-US" sz="1400" dirty="0"/>
          </a:p>
        </p:txBody>
      </p:sp>
      <p:sp>
        <p:nvSpPr>
          <p:cNvPr id="4" name="Shape 2"/>
          <p:cNvSpPr/>
          <p:nvPr/>
        </p:nvSpPr>
        <p:spPr>
          <a:xfrm>
            <a:off x="548640" y="1563624"/>
            <a:ext cx="548640" cy="548640"/>
          </a:xfrm>
          <a:prstGeom prst="ellipse">
            <a:avLst/>
          </a:prstGeom>
          <a:solidFill>
            <a:srgbClr val="6E3550"/>
          </a:solidFill>
          <a:ln/>
        </p:spPr>
      </p:sp>
      <p:sp>
        <p:nvSpPr>
          <p:cNvPr id="5" name="Text 3"/>
          <p:cNvSpPr/>
          <p:nvPr/>
        </p:nvSpPr>
        <p:spPr>
          <a:xfrm>
            <a:off x="548640" y="1563624"/>
            <a:ext cx="548640" cy="548640"/>
          </a:xfrm>
          <a:prstGeom prst="rect">
            <a:avLst/>
          </a:prstGeom>
          <a:noFill/>
          <a:ln/>
        </p:spPr>
        <p:txBody>
          <a:bodyPr wrap="square" rtlCol="0" anchor="ctr"/>
          <a:lstStyle/>
          <a:p>
            <a:pPr algn="ctr" indent="0" marL="0">
              <a:buNone/>
            </a:pPr>
            <a:r>
              <a:rPr lang="en-US" sz="1050" b="1" dirty="0">
                <a:solidFill>
                  <a:srgbClr val="F7F1E4"/>
                </a:solidFill>
                <a:latin typeface="Calibri" pitchFamily="34" charset="0"/>
                <a:ea typeface="Calibri" pitchFamily="34" charset="-122"/>
                <a:cs typeface="Calibri" pitchFamily="34" charset="-120"/>
              </a:rPr>
              <a:t>7:07</a:t>
            </a:r>
            <a:endParaRPr lang="en-US" sz="1050" dirty="0"/>
          </a:p>
        </p:txBody>
      </p:sp>
      <p:sp>
        <p:nvSpPr>
          <p:cNvPr id="6" name="Text 4"/>
          <p:cNvSpPr/>
          <p:nvPr/>
        </p:nvSpPr>
        <p:spPr>
          <a:xfrm>
            <a:off x="1325880" y="1508760"/>
            <a:ext cx="7498080" cy="320040"/>
          </a:xfrm>
          <a:prstGeom prst="rect">
            <a:avLst/>
          </a:prstGeom>
          <a:noFill/>
          <a:ln/>
        </p:spPr>
        <p:txBody>
          <a:bodyPr wrap="square" rtlCol="0" anchor="ctr"/>
          <a:lstStyle/>
          <a:p>
            <a:pPr indent="0" marL="0">
              <a:buNone/>
            </a:pPr>
            <a:r>
              <a:rPr lang="en-US" sz="1500" b="1" dirty="0">
                <a:solidFill>
                  <a:srgbClr val="3C2818"/>
                </a:solidFill>
                <a:latin typeface="Calibri" pitchFamily="34" charset="0"/>
                <a:ea typeface="Calibri" pitchFamily="34" charset="-122"/>
                <a:cs typeface="Calibri" pitchFamily="34" charset="-120"/>
              </a:rPr>
              <a:t>Bienvenida y encuadre</a:t>
            </a:r>
            <a:endParaRPr lang="en-US" sz="1500" dirty="0"/>
          </a:p>
        </p:txBody>
      </p:sp>
      <p:sp>
        <p:nvSpPr>
          <p:cNvPr id="7" name="Text 5"/>
          <p:cNvSpPr/>
          <p:nvPr/>
        </p:nvSpPr>
        <p:spPr>
          <a:xfrm>
            <a:off x="1325880" y="1810512"/>
            <a:ext cx="7498080" cy="274320"/>
          </a:xfrm>
          <a:prstGeom prst="rect">
            <a:avLst/>
          </a:prstGeom>
          <a:noFill/>
          <a:ln/>
        </p:spPr>
        <p:txBody>
          <a:bodyPr wrap="square" rtlCol="0" anchor="ctr"/>
          <a:lstStyle/>
          <a:p>
            <a:pPr indent="0" marL="0">
              <a:buNone/>
            </a:pPr>
            <a:r>
              <a:rPr lang="en-US" sz="1150" i="1" dirty="0">
                <a:solidFill>
                  <a:srgbClr val="8A7358"/>
                </a:solidFill>
                <a:latin typeface="Calibri" pitchFamily="34" charset="0"/>
                <a:ea typeface="Calibri" pitchFamily="34" charset="-122"/>
                <a:cs typeface="Calibri" pitchFamily="34" charset="-120"/>
              </a:rPr>
              <a:t>3 min · Mariluz</a:t>
            </a:r>
            <a:endParaRPr lang="en-US" sz="1150" dirty="0"/>
          </a:p>
        </p:txBody>
      </p:sp>
      <p:sp>
        <p:nvSpPr>
          <p:cNvPr id="8" name="Shape 6"/>
          <p:cNvSpPr/>
          <p:nvPr/>
        </p:nvSpPr>
        <p:spPr>
          <a:xfrm>
            <a:off x="1325880" y="2093976"/>
            <a:ext cx="8321040" cy="0"/>
          </a:xfrm>
          <a:prstGeom prst="line">
            <a:avLst/>
          </a:prstGeom>
          <a:noFill/>
          <a:ln w="9525">
            <a:solidFill>
              <a:srgbClr val="DDD0B8"/>
            </a:solidFill>
            <a:prstDash val="solid"/>
          </a:ln>
        </p:spPr>
      </p:sp>
      <p:sp>
        <p:nvSpPr>
          <p:cNvPr id="9" name="Shape 7"/>
          <p:cNvSpPr/>
          <p:nvPr/>
        </p:nvSpPr>
        <p:spPr>
          <a:xfrm>
            <a:off x="548640" y="2221992"/>
            <a:ext cx="548640" cy="548640"/>
          </a:xfrm>
          <a:prstGeom prst="ellipse">
            <a:avLst/>
          </a:prstGeom>
          <a:solidFill>
            <a:srgbClr val="C0704F"/>
          </a:solidFill>
          <a:ln/>
        </p:spPr>
      </p:sp>
      <p:sp>
        <p:nvSpPr>
          <p:cNvPr id="10" name="Text 8"/>
          <p:cNvSpPr/>
          <p:nvPr/>
        </p:nvSpPr>
        <p:spPr>
          <a:xfrm>
            <a:off x="548640" y="2221992"/>
            <a:ext cx="548640" cy="548640"/>
          </a:xfrm>
          <a:prstGeom prst="rect">
            <a:avLst/>
          </a:prstGeom>
          <a:noFill/>
          <a:ln/>
        </p:spPr>
        <p:txBody>
          <a:bodyPr wrap="square" rtlCol="0" anchor="ctr"/>
          <a:lstStyle/>
          <a:p>
            <a:pPr algn="ctr" indent="0" marL="0">
              <a:buNone/>
            </a:pPr>
            <a:r>
              <a:rPr lang="en-US" sz="1050" b="1" dirty="0">
                <a:solidFill>
                  <a:srgbClr val="F7F1E4"/>
                </a:solidFill>
                <a:latin typeface="Calibri" pitchFamily="34" charset="0"/>
                <a:ea typeface="Calibri" pitchFamily="34" charset="-122"/>
                <a:cs typeface="Calibri" pitchFamily="34" charset="-120"/>
              </a:rPr>
              <a:t>7:10</a:t>
            </a:r>
            <a:endParaRPr lang="en-US" sz="1050" dirty="0"/>
          </a:p>
        </p:txBody>
      </p:sp>
      <p:sp>
        <p:nvSpPr>
          <p:cNvPr id="11" name="Text 9"/>
          <p:cNvSpPr/>
          <p:nvPr/>
        </p:nvSpPr>
        <p:spPr>
          <a:xfrm>
            <a:off x="1325880" y="2167128"/>
            <a:ext cx="7498080" cy="320040"/>
          </a:xfrm>
          <a:prstGeom prst="rect">
            <a:avLst/>
          </a:prstGeom>
          <a:noFill/>
          <a:ln/>
        </p:spPr>
        <p:txBody>
          <a:bodyPr wrap="square" rtlCol="0" anchor="ctr"/>
          <a:lstStyle/>
          <a:p>
            <a:pPr indent="0" marL="0">
              <a:buNone/>
            </a:pPr>
            <a:r>
              <a:rPr lang="en-US" sz="1500" b="1" dirty="0">
                <a:solidFill>
                  <a:srgbClr val="3C2818"/>
                </a:solidFill>
                <a:latin typeface="Calibri" pitchFamily="34" charset="0"/>
                <a:ea typeface="Calibri" pitchFamily="34" charset="-122"/>
                <a:cs typeface="Calibri" pitchFamily="34" charset="-120"/>
              </a:rPr>
              <a:t>Metodología: cómo leer Isaías + Apocalipsis</a:t>
            </a:r>
            <a:endParaRPr lang="en-US" sz="1500" dirty="0"/>
          </a:p>
        </p:txBody>
      </p:sp>
      <p:sp>
        <p:nvSpPr>
          <p:cNvPr id="12" name="Text 10"/>
          <p:cNvSpPr/>
          <p:nvPr/>
        </p:nvSpPr>
        <p:spPr>
          <a:xfrm>
            <a:off x="1325880" y="2468880"/>
            <a:ext cx="7498080" cy="274320"/>
          </a:xfrm>
          <a:prstGeom prst="rect">
            <a:avLst/>
          </a:prstGeom>
          <a:noFill/>
          <a:ln/>
        </p:spPr>
        <p:txBody>
          <a:bodyPr wrap="square" rtlCol="0" anchor="ctr"/>
          <a:lstStyle/>
          <a:p>
            <a:pPr indent="0" marL="0">
              <a:buNone/>
            </a:pPr>
            <a:r>
              <a:rPr lang="en-US" sz="1150" i="1" dirty="0">
                <a:solidFill>
                  <a:srgbClr val="8A7358"/>
                </a:solidFill>
                <a:latin typeface="Calibri" pitchFamily="34" charset="0"/>
                <a:ea typeface="Calibri" pitchFamily="34" charset="-122"/>
                <a:cs typeface="Calibri" pitchFamily="34" charset="-120"/>
              </a:rPr>
              <a:t>7 min · Mariluz</a:t>
            </a:r>
            <a:endParaRPr lang="en-US" sz="1150" dirty="0"/>
          </a:p>
        </p:txBody>
      </p:sp>
      <p:sp>
        <p:nvSpPr>
          <p:cNvPr id="13" name="Shape 11"/>
          <p:cNvSpPr/>
          <p:nvPr/>
        </p:nvSpPr>
        <p:spPr>
          <a:xfrm>
            <a:off x="1325880" y="2752344"/>
            <a:ext cx="8321040" cy="0"/>
          </a:xfrm>
          <a:prstGeom prst="line">
            <a:avLst/>
          </a:prstGeom>
          <a:noFill/>
          <a:ln w="9525">
            <a:solidFill>
              <a:srgbClr val="DDD0B8"/>
            </a:solidFill>
            <a:prstDash val="solid"/>
          </a:ln>
        </p:spPr>
      </p:sp>
      <p:sp>
        <p:nvSpPr>
          <p:cNvPr id="14" name="Shape 12"/>
          <p:cNvSpPr/>
          <p:nvPr/>
        </p:nvSpPr>
        <p:spPr>
          <a:xfrm>
            <a:off x="548640" y="2880360"/>
            <a:ext cx="548640" cy="548640"/>
          </a:xfrm>
          <a:prstGeom prst="ellipse">
            <a:avLst/>
          </a:prstGeom>
          <a:solidFill>
            <a:srgbClr val="6E3550"/>
          </a:solidFill>
          <a:ln/>
        </p:spPr>
      </p:sp>
      <p:sp>
        <p:nvSpPr>
          <p:cNvPr id="15" name="Text 13"/>
          <p:cNvSpPr/>
          <p:nvPr/>
        </p:nvSpPr>
        <p:spPr>
          <a:xfrm>
            <a:off x="548640" y="2880360"/>
            <a:ext cx="548640" cy="548640"/>
          </a:xfrm>
          <a:prstGeom prst="rect">
            <a:avLst/>
          </a:prstGeom>
          <a:noFill/>
          <a:ln/>
        </p:spPr>
        <p:txBody>
          <a:bodyPr wrap="square" rtlCol="0" anchor="ctr"/>
          <a:lstStyle/>
          <a:p>
            <a:pPr algn="ctr" indent="0" marL="0">
              <a:buNone/>
            </a:pPr>
            <a:r>
              <a:rPr lang="en-US" sz="1050" b="1" dirty="0">
                <a:solidFill>
                  <a:srgbClr val="F7F1E4"/>
                </a:solidFill>
                <a:latin typeface="Calibri" pitchFamily="34" charset="0"/>
                <a:ea typeface="Calibri" pitchFamily="34" charset="-122"/>
                <a:cs typeface="Calibri" pitchFamily="34" charset="-120"/>
              </a:rPr>
              <a:t>7:17</a:t>
            </a:r>
            <a:endParaRPr lang="en-US" sz="1050" dirty="0"/>
          </a:p>
        </p:txBody>
      </p:sp>
      <p:sp>
        <p:nvSpPr>
          <p:cNvPr id="16" name="Text 14"/>
          <p:cNvSpPr/>
          <p:nvPr/>
        </p:nvSpPr>
        <p:spPr>
          <a:xfrm>
            <a:off x="1325880" y="2825496"/>
            <a:ext cx="7498080" cy="320040"/>
          </a:xfrm>
          <a:prstGeom prst="rect">
            <a:avLst/>
          </a:prstGeom>
          <a:noFill/>
          <a:ln/>
        </p:spPr>
        <p:txBody>
          <a:bodyPr wrap="square" rtlCol="0" anchor="ctr"/>
          <a:lstStyle/>
          <a:p>
            <a:pPr indent="0" marL="0">
              <a:buNone/>
            </a:pPr>
            <a:r>
              <a:rPr lang="en-US" sz="1500" b="1" dirty="0">
                <a:solidFill>
                  <a:srgbClr val="3C2818"/>
                </a:solidFill>
                <a:latin typeface="Calibri" pitchFamily="34" charset="0"/>
                <a:ea typeface="Calibri" pitchFamily="34" charset="-122"/>
                <a:cs typeface="Calibri" pitchFamily="34" charset="-120"/>
              </a:rPr>
              <a:t>Recorrido de ecos · Días 1–4</a:t>
            </a:r>
            <a:endParaRPr lang="en-US" sz="1500" dirty="0"/>
          </a:p>
        </p:txBody>
      </p:sp>
      <p:sp>
        <p:nvSpPr>
          <p:cNvPr id="17" name="Text 15"/>
          <p:cNvSpPr/>
          <p:nvPr/>
        </p:nvSpPr>
        <p:spPr>
          <a:xfrm>
            <a:off x="1325880" y="3127248"/>
            <a:ext cx="7498080" cy="274320"/>
          </a:xfrm>
          <a:prstGeom prst="rect">
            <a:avLst/>
          </a:prstGeom>
          <a:noFill/>
          <a:ln/>
        </p:spPr>
        <p:txBody>
          <a:bodyPr wrap="square" rtlCol="0" anchor="ctr"/>
          <a:lstStyle/>
          <a:p>
            <a:pPr indent="0" marL="0">
              <a:buNone/>
            </a:pPr>
            <a:r>
              <a:rPr lang="en-US" sz="1150" i="1" dirty="0">
                <a:solidFill>
                  <a:srgbClr val="8A7358"/>
                </a:solidFill>
                <a:latin typeface="Calibri" pitchFamily="34" charset="0"/>
                <a:ea typeface="Calibri" pitchFamily="34" charset="-122"/>
                <a:cs typeface="Calibri" pitchFamily="34" charset="-120"/>
              </a:rPr>
              <a:t>15 min · Mariluz</a:t>
            </a:r>
            <a:endParaRPr lang="en-US" sz="1150" dirty="0"/>
          </a:p>
        </p:txBody>
      </p:sp>
      <p:sp>
        <p:nvSpPr>
          <p:cNvPr id="18" name="Shape 16"/>
          <p:cNvSpPr/>
          <p:nvPr/>
        </p:nvSpPr>
        <p:spPr>
          <a:xfrm>
            <a:off x="1325880" y="3410712"/>
            <a:ext cx="8321040" cy="0"/>
          </a:xfrm>
          <a:prstGeom prst="line">
            <a:avLst/>
          </a:prstGeom>
          <a:noFill/>
          <a:ln w="9525">
            <a:solidFill>
              <a:srgbClr val="DDD0B8"/>
            </a:solidFill>
            <a:prstDash val="solid"/>
          </a:ln>
        </p:spPr>
      </p:sp>
      <p:sp>
        <p:nvSpPr>
          <p:cNvPr id="19" name="Shape 17"/>
          <p:cNvSpPr/>
          <p:nvPr/>
        </p:nvSpPr>
        <p:spPr>
          <a:xfrm>
            <a:off x="548640" y="3538728"/>
            <a:ext cx="548640" cy="548640"/>
          </a:xfrm>
          <a:prstGeom prst="ellipse">
            <a:avLst/>
          </a:prstGeom>
          <a:solidFill>
            <a:srgbClr val="C0704F"/>
          </a:solidFill>
          <a:ln/>
        </p:spPr>
      </p:sp>
      <p:sp>
        <p:nvSpPr>
          <p:cNvPr id="20" name="Text 18"/>
          <p:cNvSpPr/>
          <p:nvPr/>
        </p:nvSpPr>
        <p:spPr>
          <a:xfrm>
            <a:off x="548640" y="3538728"/>
            <a:ext cx="548640" cy="548640"/>
          </a:xfrm>
          <a:prstGeom prst="rect">
            <a:avLst/>
          </a:prstGeom>
          <a:noFill/>
          <a:ln/>
        </p:spPr>
        <p:txBody>
          <a:bodyPr wrap="square" rtlCol="0" anchor="ctr"/>
          <a:lstStyle/>
          <a:p>
            <a:pPr algn="ctr" indent="0" marL="0">
              <a:buNone/>
            </a:pPr>
            <a:r>
              <a:rPr lang="en-US" sz="1050" b="1" dirty="0">
                <a:solidFill>
                  <a:srgbClr val="F7F1E4"/>
                </a:solidFill>
                <a:latin typeface="Calibri" pitchFamily="34" charset="0"/>
                <a:ea typeface="Calibri" pitchFamily="34" charset="-122"/>
                <a:cs typeface="Calibri" pitchFamily="34" charset="-120"/>
              </a:rPr>
              <a:t>7:32</a:t>
            </a:r>
            <a:endParaRPr lang="en-US" sz="1050" dirty="0"/>
          </a:p>
        </p:txBody>
      </p:sp>
      <p:sp>
        <p:nvSpPr>
          <p:cNvPr id="21" name="Text 19"/>
          <p:cNvSpPr/>
          <p:nvPr/>
        </p:nvSpPr>
        <p:spPr>
          <a:xfrm>
            <a:off x="1325880" y="3483864"/>
            <a:ext cx="7498080" cy="320040"/>
          </a:xfrm>
          <a:prstGeom prst="rect">
            <a:avLst/>
          </a:prstGeom>
          <a:noFill/>
          <a:ln/>
        </p:spPr>
        <p:txBody>
          <a:bodyPr wrap="square" rtlCol="0" anchor="ctr"/>
          <a:lstStyle/>
          <a:p>
            <a:pPr indent="0" marL="0">
              <a:buNone/>
            </a:pPr>
            <a:r>
              <a:rPr lang="en-US" sz="1500" b="1" dirty="0">
                <a:solidFill>
                  <a:srgbClr val="3C2818"/>
                </a:solidFill>
                <a:latin typeface="Calibri" pitchFamily="34" charset="0"/>
                <a:ea typeface="Calibri" pitchFamily="34" charset="-122"/>
                <a:cs typeface="Calibri" pitchFamily="34" charset="-120"/>
              </a:rPr>
              <a:t>Actividad: El Círculo de los Atributos</a:t>
            </a:r>
            <a:endParaRPr lang="en-US" sz="1500" dirty="0"/>
          </a:p>
        </p:txBody>
      </p:sp>
      <p:sp>
        <p:nvSpPr>
          <p:cNvPr id="22" name="Text 20"/>
          <p:cNvSpPr/>
          <p:nvPr/>
        </p:nvSpPr>
        <p:spPr>
          <a:xfrm>
            <a:off x="1325880" y="3785616"/>
            <a:ext cx="7498080" cy="274320"/>
          </a:xfrm>
          <a:prstGeom prst="rect">
            <a:avLst/>
          </a:prstGeom>
          <a:noFill/>
          <a:ln/>
        </p:spPr>
        <p:txBody>
          <a:bodyPr wrap="square" rtlCol="0" anchor="ctr"/>
          <a:lstStyle/>
          <a:p>
            <a:pPr indent="0" marL="0">
              <a:buNone/>
            </a:pPr>
            <a:r>
              <a:rPr lang="en-US" sz="1150" i="1" dirty="0">
                <a:solidFill>
                  <a:srgbClr val="8A7358"/>
                </a:solidFill>
                <a:latin typeface="Calibri" pitchFamily="34" charset="0"/>
                <a:ea typeface="Calibri" pitchFamily="34" charset="-122"/>
                <a:cs typeface="Calibri" pitchFamily="34" charset="-120"/>
              </a:rPr>
              <a:t>15 min · Comunidad</a:t>
            </a:r>
            <a:endParaRPr lang="en-US" sz="1150" dirty="0"/>
          </a:p>
        </p:txBody>
      </p:sp>
      <p:sp>
        <p:nvSpPr>
          <p:cNvPr id="23" name="Shape 21"/>
          <p:cNvSpPr/>
          <p:nvPr/>
        </p:nvSpPr>
        <p:spPr>
          <a:xfrm>
            <a:off x="1325880" y="4069080"/>
            <a:ext cx="8321040" cy="0"/>
          </a:xfrm>
          <a:prstGeom prst="line">
            <a:avLst/>
          </a:prstGeom>
          <a:noFill/>
          <a:ln w="9525">
            <a:solidFill>
              <a:srgbClr val="DDD0B8"/>
            </a:solidFill>
            <a:prstDash val="solid"/>
          </a:ln>
        </p:spPr>
      </p:sp>
      <p:sp>
        <p:nvSpPr>
          <p:cNvPr id="24" name="Shape 22"/>
          <p:cNvSpPr/>
          <p:nvPr/>
        </p:nvSpPr>
        <p:spPr>
          <a:xfrm>
            <a:off x="548640" y="4197096"/>
            <a:ext cx="548640" cy="548640"/>
          </a:xfrm>
          <a:prstGeom prst="ellipse">
            <a:avLst/>
          </a:prstGeom>
          <a:solidFill>
            <a:srgbClr val="6E3550"/>
          </a:solidFill>
          <a:ln/>
        </p:spPr>
      </p:sp>
      <p:sp>
        <p:nvSpPr>
          <p:cNvPr id="25" name="Text 23"/>
          <p:cNvSpPr/>
          <p:nvPr/>
        </p:nvSpPr>
        <p:spPr>
          <a:xfrm>
            <a:off x="548640" y="4197096"/>
            <a:ext cx="548640" cy="548640"/>
          </a:xfrm>
          <a:prstGeom prst="rect">
            <a:avLst/>
          </a:prstGeom>
          <a:noFill/>
          <a:ln/>
        </p:spPr>
        <p:txBody>
          <a:bodyPr wrap="square" rtlCol="0" anchor="ctr"/>
          <a:lstStyle/>
          <a:p>
            <a:pPr algn="ctr" indent="0" marL="0">
              <a:buNone/>
            </a:pPr>
            <a:r>
              <a:rPr lang="en-US" sz="1050" b="1" dirty="0">
                <a:solidFill>
                  <a:srgbClr val="F7F1E4"/>
                </a:solidFill>
                <a:latin typeface="Calibri" pitchFamily="34" charset="0"/>
                <a:ea typeface="Calibri" pitchFamily="34" charset="-122"/>
                <a:cs typeface="Calibri" pitchFamily="34" charset="-120"/>
              </a:rPr>
              <a:t>7:47</a:t>
            </a:r>
            <a:endParaRPr lang="en-US" sz="1050" dirty="0"/>
          </a:p>
        </p:txBody>
      </p:sp>
      <p:sp>
        <p:nvSpPr>
          <p:cNvPr id="26" name="Text 24"/>
          <p:cNvSpPr/>
          <p:nvPr/>
        </p:nvSpPr>
        <p:spPr>
          <a:xfrm>
            <a:off x="1325880" y="4142232"/>
            <a:ext cx="7498080" cy="320040"/>
          </a:xfrm>
          <a:prstGeom prst="rect">
            <a:avLst/>
          </a:prstGeom>
          <a:noFill/>
          <a:ln/>
        </p:spPr>
        <p:txBody>
          <a:bodyPr wrap="square" rtlCol="0" anchor="ctr"/>
          <a:lstStyle/>
          <a:p>
            <a:pPr indent="0" marL="0">
              <a:buNone/>
            </a:pPr>
            <a:r>
              <a:rPr lang="en-US" sz="1500" b="1" dirty="0">
                <a:solidFill>
                  <a:srgbClr val="3C2818"/>
                </a:solidFill>
                <a:latin typeface="Calibri" pitchFamily="34" charset="0"/>
                <a:ea typeface="Calibri" pitchFamily="34" charset="-122"/>
                <a:cs typeface="Calibri" pitchFamily="34" charset="-120"/>
              </a:rPr>
              <a:t>Patmos, las 7 iglesias y “reprender”</a:t>
            </a:r>
            <a:endParaRPr lang="en-US" sz="1500" dirty="0"/>
          </a:p>
        </p:txBody>
      </p:sp>
      <p:sp>
        <p:nvSpPr>
          <p:cNvPr id="27" name="Text 25"/>
          <p:cNvSpPr/>
          <p:nvPr/>
        </p:nvSpPr>
        <p:spPr>
          <a:xfrm>
            <a:off x="1325880" y="4443984"/>
            <a:ext cx="7498080" cy="274320"/>
          </a:xfrm>
          <a:prstGeom prst="rect">
            <a:avLst/>
          </a:prstGeom>
          <a:noFill/>
          <a:ln/>
        </p:spPr>
        <p:txBody>
          <a:bodyPr wrap="square" rtlCol="0" anchor="ctr"/>
          <a:lstStyle/>
          <a:p>
            <a:pPr indent="0" marL="0">
              <a:buNone/>
            </a:pPr>
            <a:r>
              <a:rPr lang="en-US" sz="1150" i="1" dirty="0">
                <a:solidFill>
                  <a:srgbClr val="8A7358"/>
                </a:solidFill>
                <a:latin typeface="Calibri" pitchFamily="34" charset="0"/>
                <a:ea typeface="Calibri" pitchFamily="34" charset="-122"/>
                <a:cs typeface="Calibri" pitchFamily="34" charset="-120"/>
              </a:rPr>
              <a:t>10 min · Mariluz + Comunidad</a:t>
            </a:r>
            <a:endParaRPr lang="en-US" sz="1150" dirty="0"/>
          </a:p>
        </p:txBody>
      </p:sp>
      <p:sp>
        <p:nvSpPr>
          <p:cNvPr id="28" name="Shape 26"/>
          <p:cNvSpPr/>
          <p:nvPr/>
        </p:nvSpPr>
        <p:spPr>
          <a:xfrm>
            <a:off x="1325880" y="4727448"/>
            <a:ext cx="8321040" cy="0"/>
          </a:xfrm>
          <a:prstGeom prst="line">
            <a:avLst/>
          </a:prstGeom>
          <a:noFill/>
          <a:ln w="9525">
            <a:solidFill>
              <a:srgbClr val="DDD0B8"/>
            </a:solidFill>
            <a:prstDash val="solid"/>
          </a:ln>
        </p:spPr>
      </p:sp>
      <p:sp>
        <p:nvSpPr>
          <p:cNvPr id="29" name="Shape 27"/>
          <p:cNvSpPr/>
          <p:nvPr/>
        </p:nvSpPr>
        <p:spPr>
          <a:xfrm>
            <a:off x="548640" y="4855464"/>
            <a:ext cx="548640" cy="548640"/>
          </a:xfrm>
          <a:prstGeom prst="ellipse">
            <a:avLst/>
          </a:prstGeom>
          <a:solidFill>
            <a:srgbClr val="C0704F"/>
          </a:solidFill>
          <a:ln/>
        </p:spPr>
      </p:sp>
      <p:sp>
        <p:nvSpPr>
          <p:cNvPr id="30" name="Text 28"/>
          <p:cNvSpPr/>
          <p:nvPr/>
        </p:nvSpPr>
        <p:spPr>
          <a:xfrm>
            <a:off x="548640" y="4855464"/>
            <a:ext cx="548640" cy="548640"/>
          </a:xfrm>
          <a:prstGeom prst="rect">
            <a:avLst/>
          </a:prstGeom>
          <a:noFill/>
          <a:ln/>
        </p:spPr>
        <p:txBody>
          <a:bodyPr wrap="square" rtlCol="0" anchor="ctr"/>
          <a:lstStyle/>
          <a:p>
            <a:pPr algn="ctr" indent="0" marL="0">
              <a:buNone/>
            </a:pPr>
            <a:r>
              <a:rPr lang="en-US" sz="1050" b="1" dirty="0">
                <a:solidFill>
                  <a:srgbClr val="F7F1E4"/>
                </a:solidFill>
                <a:latin typeface="Calibri" pitchFamily="34" charset="0"/>
                <a:ea typeface="Calibri" pitchFamily="34" charset="-122"/>
                <a:cs typeface="Calibri" pitchFamily="34" charset="-120"/>
              </a:rPr>
              <a:t>7:57</a:t>
            </a:r>
            <a:endParaRPr lang="en-US" sz="1050" dirty="0"/>
          </a:p>
        </p:txBody>
      </p:sp>
      <p:sp>
        <p:nvSpPr>
          <p:cNvPr id="31" name="Text 29"/>
          <p:cNvSpPr/>
          <p:nvPr/>
        </p:nvSpPr>
        <p:spPr>
          <a:xfrm>
            <a:off x="1325880" y="4800600"/>
            <a:ext cx="7498080" cy="320040"/>
          </a:xfrm>
          <a:prstGeom prst="rect">
            <a:avLst/>
          </a:prstGeom>
          <a:noFill/>
          <a:ln/>
        </p:spPr>
        <p:txBody>
          <a:bodyPr wrap="square" rtlCol="0" anchor="ctr"/>
          <a:lstStyle/>
          <a:p>
            <a:pPr indent="0" marL="0">
              <a:buNone/>
            </a:pPr>
            <a:r>
              <a:rPr lang="en-US" sz="1500" b="1" dirty="0">
                <a:solidFill>
                  <a:srgbClr val="3C2818"/>
                </a:solidFill>
                <a:latin typeface="Calibri" pitchFamily="34" charset="0"/>
                <a:ea typeface="Calibri" pitchFamily="34" charset="-122"/>
                <a:cs typeface="Calibri" pitchFamily="34" charset="-120"/>
              </a:rPr>
              <a:t>Conversación abierta</a:t>
            </a:r>
            <a:endParaRPr lang="en-US" sz="1500" dirty="0"/>
          </a:p>
        </p:txBody>
      </p:sp>
      <p:sp>
        <p:nvSpPr>
          <p:cNvPr id="32" name="Text 30"/>
          <p:cNvSpPr/>
          <p:nvPr/>
        </p:nvSpPr>
        <p:spPr>
          <a:xfrm>
            <a:off x="1325880" y="5102352"/>
            <a:ext cx="7498080" cy="274320"/>
          </a:xfrm>
          <a:prstGeom prst="rect">
            <a:avLst/>
          </a:prstGeom>
          <a:noFill/>
          <a:ln/>
        </p:spPr>
        <p:txBody>
          <a:bodyPr wrap="square" rtlCol="0" anchor="ctr"/>
          <a:lstStyle/>
          <a:p>
            <a:pPr indent="0" marL="0">
              <a:buNone/>
            </a:pPr>
            <a:r>
              <a:rPr lang="en-US" sz="1150" i="1" dirty="0">
                <a:solidFill>
                  <a:srgbClr val="8A7358"/>
                </a:solidFill>
                <a:latin typeface="Calibri" pitchFamily="34" charset="0"/>
                <a:ea typeface="Calibri" pitchFamily="34" charset="-122"/>
                <a:cs typeface="Calibri" pitchFamily="34" charset="-120"/>
              </a:rPr>
              <a:t>6 min · Comunidad</a:t>
            </a:r>
            <a:endParaRPr lang="en-US" sz="1150" dirty="0"/>
          </a:p>
        </p:txBody>
      </p:sp>
      <p:sp>
        <p:nvSpPr>
          <p:cNvPr id="33" name="Shape 31"/>
          <p:cNvSpPr/>
          <p:nvPr/>
        </p:nvSpPr>
        <p:spPr>
          <a:xfrm>
            <a:off x="1325880" y="5385816"/>
            <a:ext cx="8321040" cy="0"/>
          </a:xfrm>
          <a:prstGeom prst="line">
            <a:avLst/>
          </a:prstGeom>
          <a:noFill/>
          <a:ln w="9525">
            <a:solidFill>
              <a:srgbClr val="DDD0B8"/>
            </a:solidFill>
            <a:prstDash val="solid"/>
          </a:ln>
        </p:spPr>
      </p:sp>
      <p:sp>
        <p:nvSpPr>
          <p:cNvPr id="34" name="Shape 32"/>
          <p:cNvSpPr/>
          <p:nvPr/>
        </p:nvSpPr>
        <p:spPr>
          <a:xfrm>
            <a:off x="548640" y="5513832"/>
            <a:ext cx="548640" cy="548640"/>
          </a:xfrm>
          <a:prstGeom prst="ellipse">
            <a:avLst/>
          </a:prstGeom>
          <a:solidFill>
            <a:srgbClr val="6E3550"/>
          </a:solidFill>
          <a:ln/>
        </p:spPr>
      </p:sp>
      <p:sp>
        <p:nvSpPr>
          <p:cNvPr id="35" name="Text 33"/>
          <p:cNvSpPr/>
          <p:nvPr/>
        </p:nvSpPr>
        <p:spPr>
          <a:xfrm>
            <a:off x="548640" y="5513832"/>
            <a:ext cx="548640" cy="548640"/>
          </a:xfrm>
          <a:prstGeom prst="rect">
            <a:avLst/>
          </a:prstGeom>
          <a:noFill/>
          <a:ln/>
        </p:spPr>
        <p:txBody>
          <a:bodyPr wrap="square" rtlCol="0" anchor="ctr"/>
          <a:lstStyle/>
          <a:p>
            <a:pPr algn="ctr" indent="0" marL="0">
              <a:buNone/>
            </a:pPr>
            <a:r>
              <a:rPr lang="en-US" sz="1050" b="1" dirty="0">
                <a:solidFill>
                  <a:srgbClr val="F7F1E4"/>
                </a:solidFill>
                <a:latin typeface="Calibri" pitchFamily="34" charset="0"/>
                <a:ea typeface="Calibri" pitchFamily="34" charset="-122"/>
                <a:cs typeface="Calibri" pitchFamily="34" charset="-120"/>
              </a:rPr>
              <a:t>8:03</a:t>
            </a:r>
            <a:endParaRPr lang="en-US" sz="1050" dirty="0"/>
          </a:p>
        </p:txBody>
      </p:sp>
      <p:sp>
        <p:nvSpPr>
          <p:cNvPr id="36" name="Text 34"/>
          <p:cNvSpPr/>
          <p:nvPr/>
        </p:nvSpPr>
        <p:spPr>
          <a:xfrm>
            <a:off x="1325880" y="5458968"/>
            <a:ext cx="7498080" cy="320040"/>
          </a:xfrm>
          <a:prstGeom prst="rect">
            <a:avLst/>
          </a:prstGeom>
          <a:noFill/>
          <a:ln/>
        </p:spPr>
        <p:txBody>
          <a:bodyPr wrap="square" rtlCol="0" anchor="ctr"/>
          <a:lstStyle/>
          <a:p>
            <a:pPr indent="0" marL="0">
              <a:buNone/>
            </a:pPr>
            <a:r>
              <a:rPr lang="en-US" sz="1500" b="1" dirty="0">
                <a:solidFill>
                  <a:srgbClr val="3C2818"/>
                </a:solidFill>
                <a:latin typeface="Calibri" pitchFamily="34" charset="0"/>
                <a:ea typeface="Calibri" pitchFamily="34" charset="-122"/>
                <a:cs typeface="Calibri" pitchFamily="34" charset="-120"/>
              </a:rPr>
              <a:t>Círculo y oración de cierre</a:t>
            </a:r>
            <a:endParaRPr lang="en-US" sz="1500" dirty="0"/>
          </a:p>
        </p:txBody>
      </p:sp>
      <p:sp>
        <p:nvSpPr>
          <p:cNvPr id="37" name="Text 35"/>
          <p:cNvSpPr/>
          <p:nvPr/>
        </p:nvSpPr>
        <p:spPr>
          <a:xfrm>
            <a:off x="1325880" y="5760720"/>
            <a:ext cx="7498080" cy="274320"/>
          </a:xfrm>
          <a:prstGeom prst="rect">
            <a:avLst/>
          </a:prstGeom>
          <a:noFill/>
          <a:ln/>
        </p:spPr>
        <p:txBody>
          <a:bodyPr wrap="square" rtlCol="0" anchor="ctr"/>
          <a:lstStyle/>
          <a:p>
            <a:pPr indent="0" marL="0">
              <a:buNone/>
            </a:pPr>
            <a:r>
              <a:rPr lang="en-US" sz="1150" i="1" dirty="0">
                <a:solidFill>
                  <a:srgbClr val="8A7358"/>
                </a:solidFill>
                <a:latin typeface="Calibri" pitchFamily="34" charset="0"/>
                <a:ea typeface="Calibri" pitchFamily="34" charset="-122"/>
                <a:cs typeface="Calibri" pitchFamily="34" charset="-120"/>
              </a:rPr>
              <a:t>5 min · Todos</a:t>
            </a:r>
            <a:endParaRPr lang="en-US" sz="1150" dirty="0"/>
          </a:p>
        </p:txBody>
      </p:sp>
      <p:sp>
        <p:nvSpPr>
          <p:cNvPr id="38" name="Shape 36"/>
          <p:cNvSpPr/>
          <p:nvPr/>
        </p:nvSpPr>
        <p:spPr>
          <a:xfrm>
            <a:off x="9692640" y="1463040"/>
            <a:ext cx="2011680" cy="2011680"/>
          </a:xfrm>
          <a:prstGeom prst="ellipse">
            <a:avLst/>
          </a:prstGeom>
          <a:ln w="19050">
            <a:solidFill>
              <a:srgbClr val="C9A24B"/>
            </a:solidFill>
            <a:prstDash val="solid"/>
          </a:ln>
        </p:spPr>
      </p:sp>
      <p:sp>
        <p:nvSpPr>
          <p:cNvPr id="39" name="Text 37"/>
          <p:cNvSpPr/>
          <p:nvPr/>
        </p:nvSpPr>
        <p:spPr>
          <a:xfrm>
            <a:off x="9281160" y="1920240"/>
            <a:ext cx="2377440" cy="1097280"/>
          </a:xfrm>
          <a:prstGeom prst="rect">
            <a:avLst/>
          </a:prstGeom>
          <a:noFill/>
          <a:ln/>
        </p:spPr>
        <p:txBody>
          <a:bodyPr wrap="square" rtlCol="0" anchor="ctr"/>
          <a:lstStyle/>
          <a:p>
            <a:pPr algn="ctr" indent="0" marL="0">
              <a:buNone/>
            </a:pPr>
            <a:r>
              <a:rPr lang="en-US" sz="1300" b="1" i="1" dirty="0">
                <a:solidFill>
                  <a:srgbClr val="6E3550"/>
                </a:solidFill>
                <a:latin typeface="Cambria" pitchFamily="34" charset="0"/>
                <a:ea typeface="Cambria" pitchFamily="34" charset="-122"/>
                <a:cs typeface="Cambria" pitchFamily="34" charset="-120"/>
              </a:rPr>
              <a:t>"Siempre el</a:t>
            </a:r>
            <a:endParaRPr lang="en-US" sz="1300" dirty="0"/>
          </a:p>
          <a:p>
            <a:pPr algn="ctr" indent="0" marL="0">
              <a:buNone/>
            </a:pPr>
            <a:r>
              <a:rPr lang="en-US" sz="1300" b="1" i="1" dirty="0">
                <a:solidFill>
                  <a:srgbClr val="6E3550"/>
                </a:solidFill>
                <a:latin typeface="Cambria" pitchFamily="34" charset="0"/>
                <a:ea typeface="Cambria" pitchFamily="34" charset="-122"/>
                <a:cs typeface="Cambria" pitchFamily="34" charset="-120"/>
              </a:rPr>
              <a:t>protagonista</a:t>
            </a:r>
            <a:endParaRPr lang="en-US" sz="1300" dirty="0"/>
          </a:p>
          <a:p>
            <a:pPr algn="ctr" indent="0" marL="0">
              <a:buNone/>
            </a:pPr>
            <a:r>
              <a:rPr lang="en-US" sz="1300" b="1" i="1" dirty="0">
                <a:solidFill>
                  <a:srgbClr val="6E3550"/>
                </a:solidFill>
                <a:latin typeface="Cambria" pitchFamily="34" charset="0"/>
                <a:ea typeface="Cambria" pitchFamily="34" charset="-122"/>
                <a:cs typeface="Cambria" pitchFamily="34" charset="-120"/>
              </a:rPr>
              <a:t>es Jesús"</a:t>
            </a:r>
            <a:endParaRPr lang="en-US" sz="1300" dirty="0"/>
          </a:p>
        </p:txBody>
      </p:sp>
      <p:sp>
        <p:nvSpPr>
          <p:cNvPr id="40" name="Text 38"/>
          <p:cNvSpPr/>
          <p:nvPr/>
        </p:nvSpPr>
        <p:spPr>
          <a:xfrm>
            <a:off x="457200" y="6473952"/>
            <a:ext cx="10180015" cy="274320"/>
          </a:xfrm>
          <a:prstGeom prst="rect">
            <a:avLst/>
          </a:prstGeom>
          <a:noFill/>
          <a:ln/>
        </p:spPr>
        <p:txBody>
          <a:bodyPr wrap="square" rtlCol="0" anchor="ctr"/>
          <a:lstStyle/>
          <a:p>
            <a:pPr algn="l" indent="0" marL="0">
              <a:buNone/>
            </a:pPr>
            <a:r>
              <a:rPr lang="en-US" sz="900" dirty="0">
                <a:solidFill>
                  <a:srgbClr val="8A7358"/>
                </a:solidFill>
                <a:latin typeface="Calibri" pitchFamily="34" charset="0"/>
                <a:ea typeface="Calibri" pitchFamily="34" charset="-122"/>
                <a:cs typeface="Calibri" pitchFamily="34" charset="-120"/>
              </a:rPr>
              <a:t>DIBUJA EL CÍRCULO · RONDA 12  |  Apertura Metodológica · 13 de agosto de 2026</a:t>
            </a:r>
            <a:endParaRPr lang="en-US" sz="900" dirty="0"/>
          </a:p>
        </p:txBody>
      </p:sp>
      <p:pic>
        <p:nvPicPr>
          <p:cNvPr id="41" name="Image 0" descr="/home/claude/ronda12_pptx/logo_small.png">    </p:cNvPr>
          <p:cNvPicPr>
            <a:picLocks noChangeAspect="1"/>
          </p:cNvPicPr>
          <p:nvPr/>
        </p:nvPicPr>
        <p:blipFill>
          <a:blip r:embed="rId1"/>
          <a:stretch>
            <a:fillRect/>
          </a:stretch>
        </p:blipFill>
        <p:spPr>
          <a:xfrm>
            <a:off x="11140135" y="6199632"/>
            <a:ext cx="566928" cy="566928"/>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3C2818"/>
        </a:solidFill>
      </p:bgPr>
    </p:bg>
    <p:spTree>
      <p:nvGrpSpPr>
        <p:cNvPr id="1" name=""/>
        <p:cNvGrpSpPr/>
        <p:nvPr/>
      </p:nvGrpSpPr>
      <p:grpSpPr>
        <a:xfrm>
          <a:off x="0" y="0"/>
          <a:ext cx="0" cy="0"/>
          <a:chOff x="0" y="0"/>
          <a:chExt cx="0" cy="0"/>
        </a:xfrm>
      </p:grpSpPr>
      <p:sp>
        <p:nvSpPr>
          <p:cNvPr id="2" name="Shape 0"/>
          <p:cNvSpPr/>
          <p:nvPr/>
        </p:nvSpPr>
        <p:spPr>
          <a:xfrm>
            <a:off x="9814255" y="4663440"/>
            <a:ext cx="3108960" cy="3108960"/>
          </a:xfrm>
          <a:prstGeom prst="ellipse">
            <a:avLst/>
          </a:prstGeom>
          <a:ln w="25400">
            <a:solidFill>
              <a:srgbClr val="6E3550"/>
            </a:solidFill>
            <a:prstDash val="solid"/>
          </a:ln>
        </p:spPr>
      </p:sp>
      <p:sp>
        <p:nvSpPr>
          <p:cNvPr id="3" name="Text 1"/>
          <p:cNvSpPr/>
          <p:nvPr/>
        </p:nvSpPr>
        <p:spPr>
          <a:xfrm>
            <a:off x="640080" y="457200"/>
            <a:ext cx="10911535" cy="731520"/>
          </a:xfrm>
          <a:prstGeom prst="rect">
            <a:avLst/>
          </a:prstGeom>
          <a:noFill/>
          <a:ln/>
        </p:spPr>
        <p:txBody>
          <a:bodyPr wrap="square" rtlCol="0" anchor="ctr"/>
          <a:lstStyle/>
          <a:p>
            <a:pPr indent="0" marL="0">
              <a:buNone/>
            </a:pPr>
            <a:r>
              <a:rPr lang="en-US" sz="3000" b="1" dirty="0">
                <a:solidFill>
                  <a:srgbClr val="F7F1E4"/>
                </a:solidFill>
                <a:latin typeface="Cambria" pitchFamily="34" charset="0"/>
                <a:ea typeface="Cambria" pitchFamily="34" charset="-122"/>
                <a:cs typeface="Cambria" pitchFamily="34" charset="-120"/>
              </a:rPr>
              <a:t>¿Cómo leer Isaías y Apocalipsis juntos?</a:t>
            </a:r>
            <a:endParaRPr lang="en-US" sz="3000" dirty="0"/>
          </a:p>
        </p:txBody>
      </p:sp>
      <p:sp>
        <p:nvSpPr>
          <p:cNvPr id="4" name="Text 2"/>
          <p:cNvSpPr/>
          <p:nvPr/>
        </p:nvSpPr>
        <p:spPr>
          <a:xfrm>
            <a:off x="640080" y="1143000"/>
            <a:ext cx="10362895" cy="457200"/>
          </a:xfrm>
          <a:prstGeom prst="rect">
            <a:avLst/>
          </a:prstGeom>
          <a:noFill/>
          <a:ln/>
        </p:spPr>
        <p:txBody>
          <a:bodyPr wrap="square" rtlCol="0" anchor="ctr"/>
          <a:lstStyle/>
          <a:p>
            <a:pPr indent="0" marL="0">
              <a:buNone/>
            </a:pPr>
            <a:r>
              <a:rPr lang="en-US" sz="1500" i="1" dirty="0">
                <a:solidFill>
                  <a:srgbClr val="E4C77A"/>
                </a:solidFill>
                <a:latin typeface="Cambria" pitchFamily="34" charset="0"/>
                <a:ea typeface="Cambria" pitchFamily="34" charset="-122"/>
                <a:cs typeface="Cambria" pitchFamily="34" charset="-120"/>
              </a:rPr>
              <a:t>La brújula: Juan 5:39 — no buscamos terminar capítulos, buscamos reconocer a Jesús.</a:t>
            </a:r>
            <a:endParaRPr lang="en-US" sz="1500" dirty="0"/>
          </a:p>
        </p:txBody>
      </p:sp>
      <p:sp>
        <p:nvSpPr>
          <p:cNvPr id="5" name="Shape 3"/>
          <p:cNvSpPr/>
          <p:nvPr/>
        </p:nvSpPr>
        <p:spPr>
          <a:xfrm>
            <a:off x="640080" y="1965960"/>
            <a:ext cx="3520440" cy="3794760"/>
          </a:xfrm>
          <a:prstGeom prst="roundRect">
            <a:avLst>
              <a:gd name="adj" fmla="val 3117"/>
            </a:avLst>
          </a:prstGeom>
          <a:solidFill>
            <a:srgbClr val="2B1B10"/>
          </a:solidFill>
          <a:ln w="12700">
            <a:solidFill>
              <a:srgbClr val="C9A24B"/>
            </a:solidFill>
            <a:prstDash val="solid"/>
          </a:ln>
        </p:spPr>
      </p:sp>
      <p:sp>
        <p:nvSpPr>
          <p:cNvPr id="6" name="Shape 4"/>
          <p:cNvSpPr/>
          <p:nvPr/>
        </p:nvSpPr>
        <p:spPr>
          <a:xfrm>
            <a:off x="914400" y="2286000"/>
            <a:ext cx="457200" cy="457200"/>
          </a:xfrm>
          <a:prstGeom prst="ellipse">
            <a:avLst/>
          </a:prstGeom>
          <a:solidFill>
            <a:srgbClr val="C9A24B"/>
          </a:solidFill>
          <a:ln/>
        </p:spPr>
      </p:sp>
      <p:sp>
        <p:nvSpPr>
          <p:cNvPr id="7" name="Text 5"/>
          <p:cNvSpPr/>
          <p:nvPr/>
        </p:nvSpPr>
        <p:spPr>
          <a:xfrm>
            <a:off x="914400" y="2286000"/>
            <a:ext cx="457200" cy="457200"/>
          </a:xfrm>
          <a:prstGeom prst="rect">
            <a:avLst/>
          </a:prstGeom>
          <a:noFill/>
          <a:ln/>
        </p:spPr>
        <p:txBody>
          <a:bodyPr wrap="square" rtlCol="0" anchor="ctr"/>
          <a:lstStyle/>
          <a:p>
            <a:pPr algn="ctr" indent="0" marL="0">
              <a:buNone/>
            </a:pPr>
            <a:r>
              <a:rPr lang="en-US" sz="1800" b="1" dirty="0">
                <a:solidFill>
                  <a:srgbClr val="3C2818"/>
                </a:solidFill>
                <a:latin typeface="Cambria" pitchFamily="34" charset="0"/>
                <a:ea typeface="Cambria" pitchFamily="34" charset="-122"/>
                <a:cs typeface="Cambria" pitchFamily="34" charset="-120"/>
              </a:rPr>
              <a:t>1</a:t>
            </a:r>
            <a:endParaRPr lang="en-US" sz="1800" dirty="0"/>
          </a:p>
        </p:txBody>
      </p:sp>
      <p:sp>
        <p:nvSpPr>
          <p:cNvPr id="8" name="Text 6"/>
          <p:cNvSpPr/>
          <p:nvPr/>
        </p:nvSpPr>
        <p:spPr>
          <a:xfrm>
            <a:off x="914400" y="2926080"/>
            <a:ext cx="2971800" cy="640080"/>
          </a:xfrm>
          <a:prstGeom prst="rect">
            <a:avLst/>
          </a:prstGeom>
          <a:noFill/>
          <a:ln/>
        </p:spPr>
        <p:txBody>
          <a:bodyPr wrap="square" rtlCol="0" anchor="ctr"/>
          <a:lstStyle/>
          <a:p>
            <a:pPr indent="0" marL="0">
              <a:buNone/>
            </a:pPr>
            <a:r>
              <a:rPr lang="en-US" sz="1700" b="1" dirty="0">
                <a:solidFill>
                  <a:srgbClr val="E4C77A"/>
                </a:solidFill>
                <a:latin typeface="Cambria" pitchFamily="34" charset="0"/>
                <a:ea typeface="Cambria" pitchFamily="34" charset="-122"/>
                <a:cs typeface="Cambria" pitchFamily="34" charset="-120"/>
              </a:rPr>
              <a:t>La metodología de ecos</a:t>
            </a:r>
            <a:endParaRPr lang="en-US" sz="1700" dirty="0"/>
          </a:p>
        </p:txBody>
      </p:sp>
      <p:sp>
        <p:nvSpPr>
          <p:cNvPr id="9" name="Text 7"/>
          <p:cNvSpPr/>
          <p:nvPr/>
        </p:nvSpPr>
        <p:spPr>
          <a:xfrm>
            <a:off x="914400" y="3611880"/>
            <a:ext cx="2971800" cy="2011680"/>
          </a:xfrm>
          <a:prstGeom prst="rect">
            <a:avLst/>
          </a:prstGeom>
          <a:noFill/>
          <a:ln/>
        </p:spPr>
        <p:txBody>
          <a:bodyPr wrap="square" rtlCol="0" anchor="ctr"/>
          <a:lstStyle/>
          <a:p>
            <a:pPr indent="0" marL="0">
              <a:lnSpc>
                <a:spcPct val="115000"/>
              </a:lnSpc>
              <a:buNone/>
            </a:pPr>
            <a:r>
              <a:rPr lang="en-US" sz="1250" dirty="0">
                <a:solidFill>
                  <a:srgbClr val="F7F1E4"/>
                </a:solidFill>
                <a:latin typeface="Calibri" pitchFamily="34" charset="0"/>
                <a:ea typeface="Calibri" pitchFamily="34" charset="-122"/>
                <a:cs typeface="Calibri" pitchFamily="34" charset="-120"/>
              </a:rPr>
              <a:t>Isaías y Apocalipsis miran realidades distintas desde momentos distintos, pero se conectan en imágenes, promesas y esperanza — sin forzar que “digan lo mismo”.</a:t>
            </a:r>
            <a:endParaRPr lang="en-US" sz="1250" dirty="0"/>
          </a:p>
        </p:txBody>
      </p:sp>
      <p:sp>
        <p:nvSpPr>
          <p:cNvPr id="10" name="Shape 8"/>
          <p:cNvSpPr/>
          <p:nvPr/>
        </p:nvSpPr>
        <p:spPr>
          <a:xfrm>
            <a:off x="4416552" y="1965960"/>
            <a:ext cx="3520440" cy="3794760"/>
          </a:xfrm>
          <a:prstGeom prst="roundRect">
            <a:avLst>
              <a:gd name="adj" fmla="val 3117"/>
            </a:avLst>
          </a:prstGeom>
          <a:solidFill>
            <a:srgbClr val="2B1B10"/>
          </a:solidFill>
          <a:ln w="12700">
            <a:solidFill>
              <a:srgbClr val="C9A24B"/>
            </a:solidFill>
            <a:prstDash val="solid"/>
          </a:ln>
        </p:spPr>
      </p:sp>
      <p:sp>
        <p:nvSpPr>
          <p:cNvPr id="11" name="Shape 9"/>
          <p:cNvSpPr/>
          <p:nvPr/>
        </p:nvSpPr>
        <p:spPr>
          <a:xfrm>
            <a:off x="4690872" y="2286000"/>
            <a:ext cx="457200" cy="457200"/>
          </a:xfrm>
          <a:prstGeom prst="ellipse">
            <a:avLst/>
          </a:prstGeom>
          <a:solidFill>
            <a:srgbClr val="C9A24B"/>
          </a:solidFill>
          <a:ln/>
        </p:spPr>
      </p:sp>
      <p:sp>
        <p:nvSpPr>
          <p:cNvPr id="12" name="Text 10"/>
          <p:cNvSpPr/>
          <p:nvPr/>
        </p:nvSpPr>
        <p:spPr>
          <a:xfrm>
            <a:off x="4690872" y="2286000"/>
            <a:ext cx="457200" cy="457200"/>
          </a:xfrm>
          <a:prstGeom prst="rect">
            <a:avLst/>
          </a:prstGeom>
          <a:noFill/>
          <a:ln/>
        </p:spPr>
        <p:txBody>
          <a:bodyPr wrap="square" rtlCol="0" anchor="ctr"/>
          <a:lstStyle/>
          <a:p>
            <a:pPr algn="ctr" indent="0" marL="0">
              <a:buNone/>
            </a:pPr>
            <a:r>
              <a:rPr lang="en-US" sz="1800" b="1" dirty="0">
                <a:solidFill>
                  <a:srgbClr val="3C2818"/>
                </a:solidFill>
                <a:latin typeface="Cambria" pitchFamily="34" charset="0"/>
                <a:ea typeface="Cambria" pitchFamily="34" charset="-122"/>
                <a:cs typeface="Cambria" pitchFamily="34" charset="-120"/>
              </a:rPr>
              <a:t>2</a:t>
            </a:r>
            <a:endParaRPr lang="en-US" sz="1800" dirty="0"/>
          </a:p>
        </p:txBody>
      </p:sp>
      <p:sp>
        <p:nvSpPr>
          <p:cNvPr id="13" name="Text 11"/>
          <p:cNvSpPr/>
          <p:nvPr/>
        </p:nvSpPr>
        <p:spPr>
          <a:xfrm>
            <a:off x="4690872" y="2926080"/>
            <a:ext cx="2971800" cy="640080"/>
          </a:xfrm>
          <a:prstGeom prst="rect">
            <a:avLst/>
          </a:prstGeom>
          <a:noFill/>
          <a:ln/>
        </p:spPr>
        <p:txBody>
          <a:bodyPr wrap="square" rtlCol="0" anchor="ctr"/>
          <a:lstStyle/>
          <a:p>
            <a:pPr indent="0" marL="0">
              <a:buNone/>
            </a:pPr>
            <a:r>
              <a:rPr lang="en-US" sz="1700" b="1" dirty="0">
                <a:solidFill>
                  <a:srgbClr val="E4C77A"/>
                </a:solidFill>
                <a:latin typeface="Cambria" pitchFamily="34" charset="0"/>
                <a:ea typeface="Cambria" pitchFamily="34" charset="-122"/>
                <a:cs typeface="Cambria" pitchFamily="34" charset="-120"/>
              </a:rPr>
              <a:t>Dos capas de lectura</a:t>
            </a:r>
            <a:endParaRPr lang="en-US" sz="1700" dirty="0"/>
          </a:p>
        </p:txBody>
      </p:sp>
      <p:sp>
        <p:nvSpPr>
          <p:cNvPr id="14" name="Text 12"/>
          <p:cNvSpPr/>
          <p:nvPr/>
        </p:nvSpPr>
        <p:spPr>
          <a:xfrm>
            <a:off x="4690872" y="3611880"/>
            <a:ext cx="2971800" cy="2011680"/>
          </a:xfrm>
          <a:prstGeom prst="rect">
            <a:avLst/>
          </a:prstGeom>
          <a:noFill/>
          <a:ln/>
        </p:spPr>
        <p:txBody>
          <a:bodyPr wrap="square" rtlCol="0" anchor="ctr"/>
          <a:lstStyle/>
          <a:p>
            <a:pPr indent="0" marL="0">
              <a:lnSpc>
                <a:spcPct val="115000"/>
              </a:lnSpc>
              <a:buNone/>
            </a:pPr>
            <a:r>
              <a:rPr lang="en-US" sz="1250" dirty="0">
                <a:solidFill>
                  <a:srgbClr val="F7F1E4"/>
                </a:solidFill>
                <a:latin typeface="Calibri" pitchFamily="34" charset="0"/>
                <a:ea typeface="Calibri" pitchFamily="34" charset="-122"/>
                <a:cs typeface="Calibri" pitchFamily="34" charset="-120"/>
              </a:rPr>
              <a:t>La lectura diaria es sencilla (NTV). La profundización — Reina-Valera de estudio, concordancias, categorías por colores — es opcional y se reserva para estos encuentros.</a:t>
            </a:r>
            <a:endParaRPr lang="en-US" sz="1250" dirty="0"/>
          </a:p>
        </p:txBody>
      </p:sp>
      <p:sp>
        <p:nvSpPr>
          <p:cNvPr id="15" name="Shape 13"/>
          <p:cNvSpPr/>
          <p:nvPr/>
        </p:nvSpPr>
        <p:spPr>
          <a:xfrm>
            <a:off x="8193024" y="1965960"/>
            <a:ext cx="3520440" cy="3794760"/>
          </a:xfrm>
          <a:prstGeom prst="roundRect">
            <a:avLst>
              <a:gd name="adj" fmla="val 3117"/>
            </a:avLst>
          </a:prstGeom>
          <a:solidFill>
            <a:srgbClr val="2B1B10"/>
          </a:solidFill>
          <a:ln w="12700">
            <a:solidFill>
              <a:srgbClr val="C9A24B"/>
            </a:solidFill>
            <a:prstDash val="solid"/>
          </a:ln>
        </p:spPr>
      </p:sp>
      <p:sp>
        <p:nvSpPr>
          <p:cNvPr id="16" name="Shape 14"/>
          <p:cNvSpPr/>
          <p:nvPr/>
        </p:nvSpPr>
        <p:spPr>
          <a:xfrm>
            <a:off x="8467344" y="2286000"/>
            <a:ext cx="457200" cy="457200"/>
          </a:xfrm>
          <a:prstGeom prst="ellipse">
            <a:avLst/>
          </a:prstGeom>
          <a:solidFill>
            <a:srgbClr val="C9A24B"/>
          </a:solidFill>
          <a:ln/>
        </p:spPr>
      </p:sp>
      <p:sp>
        <p:nvSpPr>
          <p:cNvPr id="17" name="Text 15"/>
          <p:cNvSpPr/>
          <p:nvPr/>
        </p:nvSpPr>
        <p:spPr>
          <a:xfrm>
            <a:off x="8467344" y="2286000"/>
            <a:ext cx="457200" cy="457200"/>
          </a:xfrm>
          <a:prstGeom prst="rect">
            <a:avLst/>
          </a:prstGeom>
          <a:noFill/>
          <a:ln/>
        </p:spPr>
        <p:txBody>
          <a:bodyPr wrap="square" rtlCol="0" anchor="ctr"/>
          <a:lstStyle/>
          <a:p>
            <a:pPr algn="ctr" indent="0" marL="0">
              <a:buNone/>
            </a:pPr>
            <a:r>
              <a:rPr lang="en-US" sz="1800" b="1" dirty="0">
                <a:solidFill>
                  <a:srgbClr val="3C2818"/>
                </a:solidFill>
                <a:latin typeface="Cambria" pitchFamily="34" charset="0"/>
                <a:ea typeface="Cambria" pitchFamily="34" charset="-122"/>
                <a:cs typeface="Cambria" pitchFamily="34" charset="-120"/>
              </a:rPr>
              <a:t>3</a:t>
            </a:r>
            <a:endParaRPr lang="en-US" sz="1800" dirty="0"/>
          </a:p>
        </p:txBody>
      </p:sp>
      <p:sp>
        <p:nvSpPr>
          <p:cNvPr id="18" name="Text 16"/>
          <p:cNvSpPr/>
          <p:nvPr/>
        </p:nvSpPr>
        <p:spPr>
          <a:xfrm>
            <a:off x="8467344" y="2926080"/>
            <a:ext cx="2971800" cy="640080"/>
          </a:xfrm>
          <a:prstGeom prst="rect">
            <a:avLst/>
          </a:prstGeom>
          <a:noFill/>
          <a:ln/>
        </p:spPr>
        <p:txBody>
          <a:bodyPr wrap="square" rtlCol="0" anchor="ctr"/>
          <a:lstStyle/>
          <a:p>
            <a:pPr indent="0" marL="0">
              <a:buNone/>
            </a:pPr>
            <a:r>
              <a:rPr lang="en-US" sz="1700" b="1" dirty="0">
                <a:solidFill>
                  <a:srgbClr val="E4C77A"/>
                </a:solidFill>
                <a:latin typeface="Cambria" pitchFamily="34" charset="0"/>
                <a:ea typeface="Cambria" pitchFamily="34" charset="-122"/>
                <a:cs typeface="Cambria" pitchFamily="34" charset="-120"/>
              </a:rPr>
              <a:t>Cobertura total</a:t>
            </a:r>
            <a:endParaRPr lang="en-US" sz="1700" dirty="0"/>
          </a:p>
        </p:txBody>
      </p:sp>
      <p:sp>
        <p:nvSpPr>
          <p:cNvPr id="19" name="Text 17"/>
          <p:cNvSpPr/>
          <p:nvPr/>
        </p:nvSpPr>
        <p:spPr>
          <a:xfrm>
            <a:off x="8467344" y="3611880"/>
            <a:ext cx="2971800" cy="2011680"/>
          </a:xfrm>
          <a:prstGeom prst="rect">
            <a:avLst/>
          </a:prstGeom>
          <a:noFill/>
          <a:ln/>
        </p:spPr>
        <p:txBody>
          <a:bodyPr wrap="square" rtlCol="0" anchor="ctr"/>
          <a:lstStyle/>
          <a:p>
            <a:pPr indent="0" marL="0">
              <a:lnSpc>
                <a:spcPct val="115000"/>
              </a:lnSpc>
              <a:buNone/>
            </a:pPr>
            <a:r>
              <a:rPr lang="en-US" sz="1250" dirty="0">
                <a:solidFill>
                  <a:srgbClr val="F7F1E4"/>
                </a:solidFill>
                <a:latin typeface="Calibri" pitchFamily="34" charset="0"/>
                <a:ea typeface="Calibri" pitchFamily="34" charset="-122"/>
                <a:cs typeface="Calibri" pitchFamily="34" charset="-120"/>
              </a:rPr>
              <a:t>En 40 días tocamos, sin excepción, los 66 capítulos de Isaías y los 22 de Apocalipsis. Hoy, Día 4, seguimos ese recorrido completo.</a:t>
            </a:r>
            <a:endParaRPr lang="en-US" sz="1250" dirty="0"/>
          </a:p>
        </p:txBody>
      </p:sp>
      <p:sp>
        <p:nvSpPr>
          <p:cNvPr id="20" name="Text 18"/>
          <p:cNvSpPr/>
          <p:nvPr/>
        </p:nvSpPr>
        <p:spPr>
          <a:xfrm>
            <a:off x="457200" y="6473952"/>
            <a:ext cx="10180015" cy="274320"/>
          </a:xfrm>
          <a:prstGeom prst="rect">
            <a:avLst/>
          </a:prstGeom>
          <a:noFill/>
          <a:ln/>
        </p:spPr>
        <p:txBody>
          <a:bodyPr wrap="square" rtlCol="0" anchor="ctr"/>
          <a:lstStyle/>
          <a:p>
            <a:pPr algn="l" indent="0" marL="0">
              <a:buNone/>
            </a:pPr>
            <a:r>
              <a:rPr lang="en-US" sz="900" dirty="0">
                <a:solidFill>
                  <a:srgbClr val="C9A24B"/>
                </a:solidFill>
                <a:latin typeface="Calibri" pitchFamily="34" charset="0"/>
                <a:ea typeface="Calibri" pitchFamily="34" charset="-122"/>
                <a:cs typeface="Calibri" pitchFamily="34" charset="-120"/>
              </a:rPr>
              <a:t>DIBUJA EL CÍRCULO · RONDA 12  |  Apertura Metodológica · 13 de agosto de 2026</a:t>
            </a:r>
            <a:endParaRPr lang="en-US" sz="900" dirty="0"/>
          </a:p>
        </p:txBody>
      </p:sp>
      <p:pic>
        <p:nvPicPr>
          <p:cNvPr id="21" name="Image 0" descr="/home/claude/ronda12_pptx/logo_small.png">    </p:cNvPr>
          <p:cNvPicPr>
            <a:picLocks noChangeAspect="1"/>
          </p:cNvPicPr>
          <p:nvPr/>
        </p:nvPicPr>
        <p:blipFill>
          <a:blip r:embed="rId1"/>
          <a:stretch>
            <a:fillRect/>
          </a:stretch>
        </p:blipFill>
        <p:spPr>
          <a:xfrm>
            <a:off x="11140135" y="6199632"/>
            <a:ext cx="566928" cy="566928"/>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1E4"/>
        </a:solidFill>
      </p:bgPr>
    </p:bg>
    <p:spTree>
      <p:nvGrpSpPr>
        <p:cNvPr id="1" name=""/>
        <p:cNvGrpSpPr/>
        <p:nvPr/>
      </p:nvGrpSpPr>
      <p:grpSpPr>
        <a:xfrm>
          <a:off x="0" y="0"/>
          <a:ext cx="0" cy="0"/>
          <a:chOff x="0" y="0"/>
          <a:chExt cx="0" cy="0"/>
        </a:xfrm>
      </p:grpSpPr>
      <p:sp>
        <p:nvSpPr>
          <p:cNvPr id="2" name="Text 0"/>
          <p:cNvSpPr/>
          <p:nvPr/>
        </p:nvSpPr>
        <p:spPr>
          <a:xfrm>
            <a:off x="548640" y="365760"/>
            <a:ext cx="8229600" cy="548640"/>
          </a:xfrm>
          <a:prstGeom prst="rect">
            <a:avLst/>
          </a:prstGeom>
          <a:noFill/>
          <a:ln/>
        </p:spPr>
        <p:txBody>
          <a:bodyPr wrap="square" rtlCol="0" anchor="ctr"/>
          <a:lstStyle/>
          <a:p>
            <a:pPr indent="0" marL="0">
              <a:buNone/>
            </a:pPr>
            <a:r>
              <a:rPr lang="en-US" sz="2800" b="1" dirty="0">
                <a:solidFill>
                  <a:srgbClr val="6E3550"/>
                </a:solidFill>
                <a:latin typeface="Cambria" pitchFamily="34" charset="0"/>
                <a:ea typeface="Cambria" pitchFamily="34" charset="-122"/>
                <a:cs typeface="Cambria" pitchFamily="34" charset="-120"/>
              </a:rPr>
              <a:t>Recorrido de los ecos · Días 1 al 4</a:t>
            </a:r>
            <a:endParaRPr lang="en-US" sz="2800" dirty="0"/>
          </a:p>
        </p:txBody>
      </p:sp>
      <p:sp>
        <p:nvSpPr>
          <p:cNvPr id="3" name="Text 1"/>
          <p:cNvSpPr/>
          <p:nvPr/>
        </p:nvSpPr>
        <p:spPr>
          <a:xfrm>
            <a:off x="548640" y="896112"/>
            <a:ext cx="8229600" cy="365760"/>
          </a:xfrm>
          <a:prstGeom prst="rect">
            <a:avLst/>
          </a:prstGeom>
          <a:noFill/>
          <a:ln/>
        </p:spPr>
        <p:txBody>
          <a:bodyPr wrap="square" rtlCol="0" anchor="ctr"/>
          <a:lstStyle/>
          <a:p>
            <a:pPr indent="0" marL="0">
              <a:buNone/>
            </a:pPr>
            <a:r>
              <a:rPr lang="en-US" sz="1300" i="1" dirty="0">
                <a:solidFill>
                  <a:srgbClr val="C0704F"/>
                </a:solidFill>
                <a:latin typeface="Calibri" pitchFamily="34" charset="0"/>
                <a:ea typeface="Calibri" pitchFamily="34" charset="-122"/>
                <a:cs typeface="Calibri" pitchFamily="34" charset="-120"/>
              </a:rPr>
              <a:t>Bloque I · Contemplamos quién es Dios</a:t>
            </a:r>
            <a:endParaRPr lang="en-US" sz="1300" dirty="0"/>
          </a:p>
        </p:txBody>
      </p:sp>
      <p:pic>
        <p:nvPicPr>
          <p:cNvPr id="4" name="Image 0" descr="/home/claude/ronda12_pptx/img/cristo_candeleros.jpg">    </p:cNvPr>
          <p:cNvPicPr>
            <a:picLocks noChangeAspect="1"/>
          </p:cNvPicPr>
          <p:nvPr/>
        </p:nvPicPr>
        <p:blipFill>
          <a:blip r:embed="rId1"/>
          <a:stretch>
            <a:fillRect/>
          </a:stretch>
        </p:blipFill>
        <p:spPr>
          <a:xfrm>
            <a:off x="9966960" y="1463040"/>
            <a:ext cx="1737360" cy="3456432"/>
          </a:xfrm>
          <a:prstGeom prst="rect">
            <a:avLst/>
          </a:prstGeom>
        </p:spPr>
      </p:pic>
      <p:sp>
        <p:nvSpPr>
          <p:cNvPr id="5" name="Text 2"/>
          <p:cNvSpPr/>
          <p:nvPr/>
        </p:nvSpPr>
        <p:spPr>
          <a:xfrm>
            <a:off x="9784080" y="4956048"/>
            <a:ext cx="2103120" cy="274320"/>
          </a:xfrm>
          <a:prstGeom prst="rect">
            <a:avLst/>
          </a:prstGeom>
          <a:noFill/>
          <a:ln/>
        </p:spPr>
        <p:txBody>
          <a:bodyPr wrap="square" rtlCol="0" anchor="ctr"/>
          <a:lstStyle/>
          <a:p>
            <a:pPr algn="ctr" indent="0" marL="0">
              <a:buNone/>
            </a:pPr>
            <a:r>
              <a:rPr lang="en-US" sz="800" i="1" dirty="0">
                <a:solidFill>
                  <a:srgbClr val="8A7358"/>
                </a:solidFill>
                <a:latin typeface="Calibri" pitchFamily="34" charset="0"/>
                <a:ea typeface="Calibri" pitchFamily="34" charset="-122"/>
                <a:cs typeface="Calibri" pitchFamily="34" charset="-120"/>
              </a:rPr>
              <a:t>Ap. 1:12–18 · Watch Tower (1988)</a:t>
            </a:r>
            <a:endParaRPr lang="en-US" sz="800" dirty="0"/>
          </a:p>
        </p:txBody>
      </p:sp>
      <p:sp>
        <p:nvSpPr>
          <p:cNvPr id="6" name="Shape 3"/>
          <p:cNvSpPr/>
          <p:nvPr/>
        </p:nvSpPr>
        <p:spPr>
          <a:xfrm>
            <a:off x="548640" y="1417320"/>
            <a:ext cx="4526280" cy="2331720"/>
          </a:xfrm>
          <a:prstGeom prst="roundRect">
            <a:avLst>
              <a:gd name="adj" fmla="val 3922"/>
            </a:avLst>
          </a:prstGeom>
          <a:solidFill>
            <a:srgbClr val="FFFFFF"/>
          </a:solidFill>
          <a:ln w="12700">
            <a:solidFill>
              <a:srgbClr val="E1D3AE"/>
            </a:solidFill>
            <a:prstDash val="solid"/>
          </a:ln>
        </p:spPr>
      </p:sp>
      <p:sp>
        <p:nvSpPr>
          <p:cNvPr id="7" name="Shape 4"/>
          <p:cNvSpPr/>
          <p:nvPr/>
        </p:nvSpPr>
        <p:spPr>
          <a:xfrm>
            <a:off x="777240" y="1645920"/>
            <a:ext cx="502920" cy="502920"/>
          </a:xfrm>
          <a:prstGeom prst="ellipse">
            <a:avLst/>
          </a:prstGeom>
          <a:solidFill>
            <a:srgbClr val="6E3550"/>
          </a:solidFill>
          <a:ln/>
        </p:spPr>
      </p:sp>
      <p:sp>
        <p:nvSpPr>
          <p:cNvPr id="8" name="Text 5"/>
          <p:cNvSpPr/>
          <p:nvPr/>
        </p:nvSpPr>
        <p:spPr>
          <a:xfrm>
            <a:off x="777240" y="1645920"/>
            <a:ext cx="502920" cy="502920"/>
          </a:xfrm>
          <a:prstGeom prst="rect">
            <a:avLst/>
          </a:prstGeom>
          <a:noFill/>
          <a:ln/>
        </p:spPr>
        <p:txBody>
          <a:bodyPr wrap="square" rtlCol="0" anchor="ctr"/>
          <a:lstStyle/>
          <a:p>
            <a:pPr algn="ctr" indent="0" marL="0">
              <a:buNone/>
            </a:pPr>
            <a:r>
              <a:rPr lang="en-US" sz="950" b="1" dirty="0">
                <a:solidFill>
                  <a:srgbClr val="F7F1E4"/>
                </a:solidFill>
                <a:latin typeface="Calibri" pitchFamily="34" charset="0"/>
                <a:ea typeface="Calibri" pitchFamily="34" charset="-122"/>
                <a:cs typeface="Calibri" pitchFamily="34" charset="-120"/>
              </a:rPr>
              <a:t>DÍA 1</a:t>
            </a:r>
            <a:endParaRPr lang="en-US" sz="950" dirty="0"/>
          </a:p>
        </p:txBody>
      </p:sp>
      <p:sp>
        <p:nvSpPr>
          <p:cNvPr id="9" name="Text 6"/>
          <p:cNvSpPr/>
          <p:nvPr/>
        </p:nvSpPr>
        <p:spPr>
          <a:xfrm>
            <a:off x="1463040" y="1581912"/>
            <a:ext cx="3154680" cy="320040"/>
          </a:xfrm>
          <a:prstGeom prst="rect">
            <a:avLst/>
          </a:prstGeom>
          <a:noFill/>
          <a:ln/>
        </p:spPr>
        <p:txBody>
          <a:bodyPr wrap="square" rtlCol="0" anchor="ctr"/>
          <a:lstStyle/>
          <a:p>
            <a:pPr indent="0" marL="0">
              <a:buNone/>
            </a:pPr>
            <a:r>
              <a:rPr lang="en-US" sz="1500" b="1" dirty="0">
                <a:solidFill>
                  <a:srgbClr val="6E3550"/>
                </a:solidFill>
                <a:latin typeface="Cambria" pitchFamily="34" charset="0"/>
                <a:ea typeface="Cambria" pitchFamily="34" charset="-122"/>
                <a:cs typeface="Cambria" pitchFamily="34" charset="-120"/>
              </a:rPr>
              <a:t>Dios en su gloria</a:t>
            </a:r>
            <a:endParaRPr lang="en-US" sz="1500" dirty="0"/>
          </a:p>
        </p:txBody>
      </p:sp>
      <p:sp>
        <p:nvSpPr>
          <p:cNvPr id="10" name="Text 7"/>
          <p:cNvSpPr/>
          <p:nvPr/>
        </p:nvSpPr>
        <p:spPr>
          <a:xfrm>
            <a:off x="1463040" y="1892808"/>
            <a:ext cx="3154680" cy="274320"/>
          </a:xfrm>
          <a:prstGeom prst="rect">
            <a:avLst/>
          </a:prstGeom>
          <a:noFill/>
          <a:ln/>
        </p:spPr>
        <p:txBody>
          <a:bodyPr wrap="square" rtlCol="0" anchor="ctr"/>
          <a:lstStyle/>
          <a:p>
            <a:pPr indent="0" marL="0">
              <a:buNone/>
            </a:pPr>
            <a:r>
              <a:rPr lang="en-US" sz="1200" i="1" dirty="0">
                <a:solidFill>
                  <a:srgbClr val="C0704F"/>
                </a:solidFill>
                <a:latin typeface="Cambria" pitchFamily="34" charset="0"/>
                <a:ea typeface="Cambria" pitchFamily="34" charset="-122"/>
                <a:cs typeface="Cambria" pitchFamily="34" charset="-120"/>
              </a:rPr>
              <a:t>"Levanta la mirada"</a:t>
            </a:r>
            <a:endParaRPr lang="en-US" sz="1200" dirty="0"/>
          </a:p>
        </p:txBody>
      </p:sp>
      <p:sp>
        <p:nvSpPr>
          <p:cNvPr id="11" name="Text 8"/>
          <p:cNvSpPr/>
          <p:nvPr/>
        </p:nvSpPr>
        <p:spPr>
          <a:xfrm>
            <a:off x="777240" y="2286000"/>
            <a:ext cx="4069080" cy="411480"/>
          </a:xfrm>
          <a:prstGeom prst="rect">
            <a:avLst/>
          </a:prstGeom>
          <a:noFill/>
          <a:ln/>
        </p:spPr>
        <p:txBody>
          <a:bodyPr wrap="square" rtlCol="0" anchor="ctr"/>
          <a:lstStyle/>
          <a:p>
            <a:pPr indent="0" marL="0">
              <a:buNone/>
            </a:pPr>
            <a:r>
              <a:rPr lang="en-US" sz="1050" dirty="0">
                <a:solidFill>
                  <a:srgbClr val="6B5A3E"/>
                </a:solidFill>
                <a:latin typeface="Calibri" pitchFamily="34" charset="0"/>
                <a:ea typeface="Calibri" pitchFamily="34" charset="-122"/>
                <a:cs typeface="Calibri" pitchFamily="34" charset="-120"/>
              </a:rPr>
              <a:t>Isaías 6:1–8  ↔  Apocalipsis 4:2–11</a:t>
            </a:r>
            <a:endParaRPr lang="en-US" sz="1050" dirty="0"/>
          </a:p>
        </p:txBody>
      </p:sp>
      <p:sp>
        <p:nvSpPr>
          <p:cNvPr id="12" name="Shape 9"/>
          <p:cNvSpPr/>
          <p:nvPr/>
        </p:nvSpPr>
        <p:spPr>
          <a:xfrm>
            <a:off x="777240" y="2679192"/>
            <a:ext cx="1188720" cy="292608"/>
          </a:xfrm>
          <a:prstGeom prst="roundRect">
            <a:avLst>
              <a:gd name="adj" fmla="val 50000"/>
            </a:avLst>
          </a:prstGeom>
          <a:solidFill>
            <a:srgbClr val="C9A24B"/>
          </a:solidFill>
          <a:ln/>
        </p:spPr>
      </p:sp>
      <p:sp>
        <p:nvSpPr>
          <p:cNvPr id="13" name="Text 10"/>
          <p:cNvSpPr/>
          <p:nvPr/>
        </p:nvSpPr>
        <p:spPr>
          <a:xfrm>
            <a:off x="777240" y="2679192"/>
            <a:ext cx="1188720" cy="292608"/>
          </a:xfrm>
          <a:prstGeom prst="rect">
            <a:avLst/>
          </a:prstGeom>
          <a:noFill/>
          <a:ln/>
        </p:spPr>
        <p:txBody>
          <a:bodyPr wrap="square" rtlCol="0" anchor="ctr"/>
          <a:lstStyle/>
          <a:p>
            <a:pPr algn="ctr" indent="0" marL="0">
              <a:buNone/>
            </a:pPr>
            <a:r>
              <a:rPr lang="en-US" sz="950" b="1" dirty="0">
                <a:solidFill>
                  <a:srgbClr val="3C2818"/>
                </a:solidFill>
                <a:latin typeface="Calibri" pitchFamily="34" charset="0"/>
                <a:ea typeface="Calibri" pitchFamily="34" charset="-122"/>
                <a:cs typeface="Calibri" pitchFamily="34" charset="-120"/>
              </a:rPr>
              <a:t>Dios</a:t>
            </a:r>
            <a:endParaRPr lang="en-US" sz="950" dirty="0"/>
          </a:p>
        </p:txBody>
      </p:sp>
      <p:sp>
        <p:nvSpPr>
          <p:cNvPr id="14" name="Text 11"/>
          <p:cNvSpPr/>
          <p:nvPr/>
        </p:nvSpPr>
        <p:spPr>
          <a:xfrm>
            <a:off x="777240" y="3044952"/>
            <a:ext cx="4069080" cy="594360"/>
          </a:xfrm>
          <a:prstGeom prst="rect">
            <a:avLst/>
          </a:prstGeom>
          <a:noFill/>
          <a:ln/>
        </p:spPr>
        <p:txBody>
          <a:bodyPr wrap="square" rtlCol="0" anchor="ctr"/>
          <a:lstStyle/>
          <a:p>
            <a:pPr indent="0" marL="0">
              <a:lnSpc>
                <a:spcPct val="110000"/>
              </a:lnSpc>
              <a:buNone/>
            </a:pPr>
            <a:r>
              <a:rPr lang="en-US" sz="1050" i="1" dirty="0">
                <a:solidFill>
                  <a:srgbClr val="3C2818"/>
                </a:solidFill>
                <a:latin typeface="Calibri" pitchFamily="34" charset="0"/>
                <a:ea typeface="Calibri" pitchFamily="34" charset="-122"/>
                <a:cs typeface="Calibri" pitchFamily="34" charset="-120"/>
              </a:rPr>
              <a:t>Antes de resolver la vida, primero se mira quién está en el trono.</a:t>
            </a:r>
            <a:endParaRPr lang="en-US" sz="1050" dirty="0"/>
          </a:p>
        </p:txBody>
      </p:sp>
      <p:sp>
        <p:nvSpPr>
          <p:cNvPr id="15" name="Shape 12"/>
          <p:cNvSpPr/>
          <p:nvPr/>
        </p:nvSpPr>
        <p:spPr>
          <a:xfrm>
            <a:off x="5349240" y="1417320"/>
            <a:ext cx="4526280" cy="2331720"/>
          </a:xfrm>
          <a:prstGeom prst="roundRect">
            <a:avLst>
              <a:gd name="adj" fmla="val 3922"/>
            </a:avLst>
          </a:prstGeom>
          <a:solidFill>
            <a:srgbClr val="FFFFFF"/>
          </a:solidFill>
          <a:ln w="12700">
            <a:solidFill>
              <a:srgbClr val="E1D3AE"/>
            </a:solidFill>
            <a:prstDash val="solid"/>
          </a:ln>
        </p:spPr>
      </p:sp>
      <p:sp>
        <p:nvSpPr>
          <p:cNvPr id="16" name="Shape 13"/>
          <p:cNvSpPr/>
          <p:nvPr/>
        </p:nvSpPr>
        <p:spPr>
          <a:xfrm>
            <a:off x="5577840" y="1645920"/>
            <a:ext cx="502920" cy="502920"/>
          </a:xfrm>
          <a:prstGeom prst="ellipse">
            <a:avLst/>
          </a:prstGeom>
          <a:solidFill>
            <a:srgbClr val="C0704F"/>
          </a:solidFill>
          <a:ln/>
        </p:spPr>
      </p:sp>
      <p:sp>
        <p:nvSpPr>
          <p:cNvPr id="17" name="Text 14"/>
          <p:cNvSpPr/>
          <p:nvPr/>
        </p:nvSpPr>
        <p:spPr>
          <a:xfrm>
            <a:off x="5577840" y="1645920"/>
            <a:ext cx="502920" cy="502920"/>
          </a:xfrm>
          <a:prstGeom prst="rect">
            <a:avLst/>
          </a:prstGeom>
          <a:noFill/>
          <a:ln/>
        </p:spPr>
        <p:txBody>
          <a:bodyPr wrap="square" rtlCol="0" anchor="ctr"/>
          <a:lstStyle/>
          <a:p>
            <a:pPr algn="ctr" indent="0" marL="0">
              <a:buNone/>
            </a:pPr>
            <a:r>
              <a:rPr lang="en-US" sz="950" b="1" dirty="0">
                <a:solidFill>
                  <a:srgbClr val="F7F1E4"/>
                </a:solidFill>
                <a:latin typeface="Calibri" pitchFamily="34" charset="0"/>
                <a:ea typeface="Calibri" pitchFamily="34" charset="-122"/>
                <a:cs typeface="Calibri" pitchFamily="34" charset="-120"/>
              </a:rPr>
              <a:t>DÍA 2</a:t>
            </a:r>
            <a:endParaRPr lang="en-US" sz="950" dirty="0"/>
          </a:p>
        </p:txBody>
      </p:sp>
      <p:sp>
        <p:nvSpPr>
          <p:cNvPr id="18" name="Text 15"/>
          <p:cNvSpPr/>
          <p:nvPr/>
        </p:nvSpPr>
        <p:spPr>
          <a:xfrm>
            <a:off x="6263640" y="1581912"/>
            <a:ext cx="3154680" cy="320040"/>
          </a:xfrm>
          <a:prstGeom prst="rect">
            <a:avLst/>
          </a:prstGeom>
          <a:noFill/>
          <a:ln/>
        </p:spPr>
        <p:txBody>
          <a:bodyPr wrap="square" rtlCol="0" anchor="ctr"/>
          <a:lstStyle/>
          <a:p>
            <a:pPr indent="0" marL="0">
              <a:buNone/>
            </a:pPr>
            <a:r>
              <a:rPr lang="en-US" sz="1500" b="1" dirty="0">
                <a:solidFill>
                  <a:srgbClr val="6E3550"/>
                </a:solidFill>
                <a:latin typeface="Cambria" pitchFamily="34" charset="0"/>
                <a:ea typeface="Cambria" pitchFamily="34" charset="-122"/>
                <a:cs typeface="Cambria" pitchFamily="34" charset="-120"/>
              </a:rPr>
              <a:t>La adoración que responde</a:t>
            </a:r>
            <a:endParaRPr lang="en-US" sz="1500" dirty="0"/>
          </a:p>
        </p:txBody>
      </p:sp>
      <p:sp>
        <p:nvSpPr>
          <p:cNvPr id="19" name="Text 16"/>
          <p:cNvSpPr/>
          <p:nvPr/>
        </p:nvSpPr>
        <p:spPr>
          <a:xfrm>
            <a:off x="6263640" y="1892808"/>
            <a:ext cx="3154680" cy="274320"/>
          </a:xfrm>
          <a:prstGeom prst="rect">
            <a:avLst/>
          </a:prstGeom>
          <a:noFill/>
          <a:ln/>
        </p:spPr>
        <p:txBody>
          <a:bodyPr wrap="square" rtlCol="0" anchor="ctr"/>
          <a:lstStyle/>
          <a:p>
            <a:pPr indent="0" marL="0">
              <a:buNone/>
            </a:pPr>
            <a:r>
              <a:rPr lang="en-US" sz="1200" i="1" dirty="0">
                <a:solidFill>
                  <a:srgbClr val="C0704F"/>
                </a:solidFill>
                <a:latin typeface="Cambria" pitchFamily="34" charset="0"/>
                <a:ea typeface="Cambria" pitchFamily="34" charset="-122"/>
                <a:cs typeface="Cambria" pitchFamily="34" charset="-120"/>
              </a:rPr>
              <a:t>"Devuelve la gloria"</a:t>
            </a:r>
            <a:endParaRPr lang="en-US" sz="1200" dirty="0"/>
          </a:p>
        </p:txBody>
      </p:sp>
      <p:sp>
        <p:nvSpPr>
          <p:cNvPr id="20" name="Text 17"/>
          <p:cNvSpPr/>
          <p:nvPr/>
        </p:nvSpPr>
        <p:spPr>
          <a:xfrm>
            <a:off x="5577840" y="2286000"/>
            <a:ext cx="4069080" cy="411480"/>
          </a:xfrm>
          <a:prstGeom prst="rect">
            <a:avLst/>
          </a:prstGeom>
          <a:noFill/>
          <a:ln/>
        </p:spPr>
        <p:txBody>
          <a:bodyPr wrap="square" rtlCol="0" anchor="ctr"/>
          <a:lstStyle/>
          <a:p>
            <a:pPr indent="0" marL="0">
              <a:buNone/>
            </a:pPr>
            <a:r>
              <a:rPr lang="en-US" sz="1050" dirty="0">
                <a:solidFill>
                  <a:srgbClr val="6B5A3E"/>
                </a:solidFill>
                <a:latin typeface="Calibri" pitchFamily="34" charset="0"/>
                <a:ea typeface="Calibri" pitchFamily="34" charset="-122"/>
                <a:cs typeface="Calibri" pitchFamily="34" charset="-120"/>
              </a:rPr>
              <a:t>Isaías 12:1–6  ↔  Apocalipsis 5:8–14</a:t>
            </a:r>
            <a:endParaRPr lang="en-US" sz="1050" dirty="0"/>
          </a:p>
        </p:txBody>
      </p:sp>
      <p:sp>
        <p:nvSpPr>
          <p:cNvPr id="21" name="Shape 18"/>
          <p:cNvSpPr/>
          <p:nvPr/>
        </p:nvSpPr>
        <p:spPr>
          <a:xfrm>
            <a:off x="5577840" y="2679192"/>
            <a:ext cx="1188720" cy="292608"/>
          </a:xfrm>
          <a:prstGeom prst="roundRect">
            <a:avLst>
              <a:gd name="adj" fmla="val 50000"/>
            </a:avLst>
          </a:prstGeom>
          <a:solidFill>
            <a:srgbClr val="C9A24B"/>
          </a:solidFill>
          <a:ln/>
        </p:spPr>
      </p:sp>
      <p:sp>
        <p:nvSpPr>
          <p:cNvPr id="22" name="Text 19"/>
          <p:cNvSpPr/>
          <p:nvPr/>
        </p:nvSpPr>
        <p:spPr>
          <a:xfrm>
            <a:off x="5577840" y="2679192"/>
            <a:ext cx="1188720" cy="292608"/>
          </a:xfrm>
          <a:prstGeom prst="rect">
            <a:avLst/>
          </a:prstGeom>
          <a:noFill/>
          <a:ln/>
        </p:spPr>
        <p:txBody>
          <a:bodyPr wrap="square" rtlCol="0" anchor="ctr"/>
          <a:lstStyle/>
          <a:p>
            <a:pPr algn="ctr" indent="0" marL="0">
              <a:buNone/>
            </a:pPr>
            <a:r>
              <a:rPr lang="en-US" sz="950" b="1" dirty="0">
                <a:solidFill>
                  <a:srgbClr val="3C2818"/>
                </a:solidFill>
                <a:latin typeface="Calibri" pitchFamily="34" charset="0"/>
                <a:ea typeface="Calibri" pitchFamily="34" charset="-122"/>
                <a:cs typeface="Calibri" pitchFamily="34" charset="-120"/>
              </a:rPr>
              <a:t>Testimonio</a:t>
            </a:r>
            <a:endParaRPr lang="en-US" sz="950" dirty="0"/>
          </a:p>
        </p:txBody>
      </p:sp>
      <p:sp>
        <p:nvSpPr>
          <p:cNvPr id="23" name="Text 20"/>
          <p:cNvSpPr/>
          <p:nvPr/>
        </p:nvSpPr>
        <p:spPr>
          <a:xfrm>
            <a:off x="5577840" y="3044952"/>
            <a:ext cx="4069080" cy="594360"/>
          </a:xfrm>
          <a:prstGeom prst="rect">
            <a:avLst/>
          </a:prstGeom>
          <a:noFill/>
          <a:ln/>
        </p:spPr>
        <p:txBody>
          <a:bodyPr wrap="square" rtlCol="0" anchor="ctr"/>
          <a:lstStyle/>
          <a:p>
            <a:pPr indent="0" marL="0">
              <a:lnSpc>
                <a:spcPct val="110000"/>
              </a:lnSpc>
              <a:buNone/>
            </a:pPr>
            <a:r>
              <a:rPr lang="en-US" sz="1050" i="1" dirty="0">
                <a:solidFill>
                  <a:srgbClr val="3C2818"/>
                </a:solidFill>
                <a:latin typeface="Calibri" pitchFamily="34" charset="0"/>
                <a:ea typeface="Calibri" pitchFamily="34" charset="-122"/>
                <a:cs typeface="Calibri" pitchFamily="34" charset="-120"/>
              </a:rPr>
              <a:t>La gloria vista no se queda en contemplación: se vuelve canto.</a:t>
            </a:r>
            <a:endParaRPr lang="en-US" sz="1050" dirty="0"/>
          </a:p>
        </p:txBody>
      </p:sp>
      <p:sp>
        <p:nvSpPr>
          <p:cNvPr id="24" name="Shape 21"/>
          <p:cNvSpPr/>
          <p:nvPr/>
        </p:nvSpPr>
        <p:spPr>
          <a:xfrm>
            <a:off x="548640" y="4023360"/>
            <a:ext cx="4526280" cy="2331720"/>
          </a:xfrm>
          <a:prstGeom prst="roundRect">
            <a:avLst>
              <a:gd name="adj" fmla="val 3922"/>
            </a:avLst>
          </a:prstGeom>
          <a:solidFill>
            <a:srgbClr val="FFFFFF"/>
          </a:solidFill>
          <a:ln w="12700">
            <a:solidFill>
              <a:srgbClr val="E1D3AE"/>
            </a:solidFill>
            <a:prstDash val="solid"/>
          </a:ln>
        </p:spPr>
      </p:sp>
      <p:sp>
        <p:nvSpPr>
          <p:cNvPr id="25" name="Shape 22"/>
          <p:cNvSpPr/>
          <p:nvPr/>
        </p:nvSpPr>
        <p:spPr>
          <a:xfrm>
            <a:off x="777240" y="4251960"/>
            <a:ext cx="502920" cy="502920"/>
          </a:xfrm>
          <a:prstGeom prst="ellipse">
            <a:avLst/>
          </a:prstGeom>
          <a:solidFill>
            <a:srgbClr val="6E3550"/>
          </a:solidFill>
          <a:ln/>
        </p:spPr>
      </p:sp>
      <p:sp>
        <p:nvSpPr>
          <p:cNvPr id="26" name="Text 23"/>
          <p:cNvSpPr/>
          <p:nvPr/>
        </p:nvSpPr>
        <p:spPr>
          <a:xfrm>
            <a:off x="777240" y="4251960"/>
            <a:ext cx="502920" cy="502920"/>
          </a:xfrm>
          <a:prstGeom prst="rect">
            <a:avLst/>
          </a:prstGeom>
          <a:noFill/>
          <a:ln/>
        </p:spPr>
        <p:txBody>
          <a:bodyPr wrap="square" rtlCol="0" anchor="ctr"/>
          <a:lstStyle/>
          <a:p>
            <a:pPr algn="ctr" indent="0" marL="0">
              <a:buNone/>
            </a:pPr>
            <a:r>
              <a:rPr lang="en-US" sz="950" b="1" dirty="0">
                <a:solidFill>
                  <a:srgbClr val="F7F1E4"/>
                </a:solidFill>
                <a:latin typeface="Calibri" pitchFamily="34" charset="0"/>
                <a:ea typeface="Calibri" pitchFamily="34" charset="-122"/>
                <a:cs typeface="Calibri" pitchFamily="34" charset="-120"/>
              </a:rPr>
              <a:t>DÍA 3</a:t>
            </a:r>
            <a:endParaRPr lang="en-US" sz="950" dirty="0"/>
          </a:p>
        </p:txBody>
      </p:sp>
      <p:sp>
        <p:nvSpPr>
          <p:cNvPr id="27" name="Text 24"/>
          <p:cNvSpPr/>
          <p:nvPr/>
        </p:nvSpPr>
        <p:spPr>
          <a:xfrm>
            <a:off x="1463040" y="4187952"/>
            <a:ext cx="3154680" cy="320040"/>
          </a:xfrm>
          <a:prstGeom prst="rect">
            <a:avLst/>
          </a:prstGeom>
          <a:noFill/>
          <a:ln/>
        </p:spPr>
        <p:txBody>
          <a:bodyPr wrap="square" rtlCol="0" anchor="ctr"/>
          <a:lstStyle/>
          <a:p>
            <a:pPr indent="0" marL="0">
              <a:buNone/>
            </a:pPr>
            <a:r>
              <a:rPr lang="en-US" sz="1500" b="1" dirty="0">
                <a:solidFill>
                  <a:srgbClr val="6E3550"/>
                </a:solidFill>
                <a:latin typeface="Cambria" pitchFamily="34" charset="0"/>
                <a:ea typeface="Cambria" pitchFamily="34" charset="-122"/>
                <a:cs typeface="Cambria" pitchFamily="34" charset="-120"/>
              </a:rPr>
              <a:t>El pecado rompe la comunión</a:t>
            </a:r>
            <a:endParaRPr lang="en-US" sz="1500" dirty="0"/>
          </a:p>
        </p:txBody>
      </p:sp>
      <p:sp>
        <p:nvSpPr>
          <p:cNvPr id="28" name="Text 25"/>
          <p:cNvSpPr/>
          <p:nvPr/>
        </p:nvSpPr>
        <p:spPr>
          <a:xfrm>
            <a:off x="1463040" y="4498848"/>
            <a:ext cx="3154680" cy="274320"/>
          </a:xfrm>
          <a:prstGeom prst="rect">
            <a:avLst/>
          </a:prstGeom>
          <a:noFill/>
          <a:ln/>
        </p:spPr>
        <p:txBody>
          <a:bodyPr wrap="square" rtlCol="0" anchor="ctr"/>
          <a:lstStyle/>
          <a:p>
            <a:pPr indent="0" marL="0">
              <a:buNone/>
            </a:pPr>
            <a:r>
              <a:rPr lang="en-US" sz="1200" i="1" dirty="0">
                <a:solidFill>
                  <a:srgbClr val="C0704F"/>
                </a:solidFill>
                <a:latin typeface="Cambria" pitchFamily="34" charset="0"/>
                <a:ea typeface="Cambria" pitchFamily="34" charset="-122"/>
                <a:cs typeface="Cambria" pitchFamily="34" charset="-120"/>
              </a:rPr>
              <a:t>"Vuelve al centro"</a:t>
            </a:r>
            <a:endParaRPr lang="en-US" sz="1200" dirty="0"/>
          </a:p>
        </p:txBody>
      </p:sp>
      <p:sp>
        <p:nvSpPr>
          <p:cNvPr id="29" name="Text 26"/>
          <p:cNvSpPr/>
          <p:nvPr/>
        </p:nvSpPr>
        <p:spPr>
          <a:xfrm>
            <a:off x="777240" y="4892040"/>
            <a:ext cx="4069080" cy="411480"/>
          </a:xfrm>
          <a:prstGeom prst="rect">
            <a:avLst/>
          </a:prstGeom>
          <a:noFill/>
          <a:ln/>
        </p:spPr>
        <p:txBody>
          <a:bodyPr wrap="square" rtlCol="0" anchor="ctr"/>
          <a:lstStyle/>
          <a:p>
            <a:pPr indent="0" marL="0">
              <a:buNone/>
            </a:pPr>
            <a:r>
              <a:rPr lang="en-US" sz="1050" dirty="0">
                <a:solidFill>
                  <a:srgbClr val="6B5A3E"/>
                </a:solidFill>
                <a:latin typeface="Calibri" pitchFamily="34" charset="0"/>
                <a:ea typeface="Calibri" pitchFamily="34" charset="-122"/>
                <a:cs typeface="Calibri" pitchFamily="34" charset="-120"/>
              </a:rPr>
              <a:t>Isaías 1:16–20  ↔  Apocalipsis 2–3</a:t>
            </a:r>
            <a:endParaRPr lang="en-US" sz="1050" dirty="0"/>
          </a:p>
        </p:txBody>
      </p:sp>
      <p:sp>
        <p:nvSpPr>
          <p:cNvPr id="30" name="Shape 27"/>
          <p:cNvSpPr/>
          <p:nvPr/>
        </p:nvSpPr>
        <p:spPr>
          <a:xfrm>
            <a:off x="777240" y="5285232"/>
            <a:ext cx="1188720" cy="292608"/>
          </a:xfrm>
          <a:prstGeom prst="roundRect">
            <a:avLst>
              <a:gd name="adj" fmla="val 50000"/>
            </a:avLst>
          </a:prstGeom>
          <a:solidFill>
            <a:srgbClr val="C9A24B"/>
          </a:solidFill>
          <a:ln/>
        </p:spPr>
      </p:sp>
      <p:sp>
        <p:nvSpPr>
          <p:cNvPr id="31" name="Text 28"/>
          <p:cNvSpPr/>
          <p:nvPr/>
        </p:nvSpPr>
        <p:spPr>
          <a:xfrm>
            <a:off x="777240" y="5285232"/>
            <a:ext cx="1188720" cy="292608"/>
          </a:xfrm>
          <a:prstGeom prst="rect">
            <a:avLst/>
          </a:prstGeom>
          <a:noFill/>
          <a:ln/>
        </p:spPr>
        <p:txBody>
          <a:bodyPr wrap="square" rtlCol="0" anchor="ctr"/>
          <a:lstStyle/>
          <a:p>
            <a:pPr algn="ctr" indent="0" marL="0">
              <a:buNone/>
            </a:pPr>
            <a:r>
              <a:rPr lang="en-US" sz="950" b="1" dirty="0">
                <a:solidFill>
                  <a:srgbClr val="3C2818"/>
                </a:solidFill>
                <a:latin typeface="Calibri" pitchFamily="34" charset="0"/>
                <a:ea typeface="Calibri" pitchFamily="34" charset="-122"/>
                <a:cs typeface="Calibri" pitchFamily="34" charset="-120"/>
              </a:rPr>
              <a:t>Salvación</a:t>
            </a:r>
            <a:endParaRPr lang="en-US" sz="950" dirty="0"/>
          </a:p>
        </p:txBody>
      </p:sp>
      <p:sp>
        <p:nvSpPr>
          <p:cNvPr id="32" name="Text 29"/>
          <p:cNvSpPr/>
          <p:nvPr/>
        </p:nvSpPr>
        <p:spPr>
          <a:xfrm>
            <a:off x="777240" y="5650992"/>
            <a:ext cx="4069080" cy="594360"/>
          </a:xfrm>
          <a:prstGeom prst="rect">
            <a:avLst/>
          </a:prstGeom>
          <a:noFill/>
          <a:ln/>
        </p:spPr>
        <p:txBody>
          <a:bodyPr wrap="square" rtlCol="0" anchor="ctr"/>
          <a:lstStyle/>
          <a:p>
            <a:pPr indent="0" marL="0">
              <a:lnSpc>
                <a:spcPct val="110000"/>
              </a:lnSpc>
              <a:buNone/>
            </a:pPr>
            <a:r>
              <a:rPr lang="en-US" sz="1050" i="1" dirty="0">
                <a:solidFill>
                  <a:srgbClr val="3C2818"/>
                </a:solidFill>
                <a:latin typeface="Calibri" pitchFamily="34" charset="0"/>
                <a:ea typeface="Calibri" pitchFamily="34" charset="-122"/>
                <a:cs typeface="Calibri" pitchFamily="34" charset="-120"/>
              </a:rPr>
              <a:t>El eco no es condena — es invitación a regresar.</a:t>
            </a:r>
            <a:endParaRPr lang="en-US" sz="1050" dirty="0"/>
          </a:p>
        </p:txBody>
      </p:sp>
      <p:sp>
        <p:nvSpPr>
          <p:cNvPr id="33" name="Shape 30"/>
          <p:cNvSpPr/>
          <p:nvPr/>
        </p:nvSpPr>
        <p:spPr>
          <a:xfrm>
            <a:off x="5349240" y="4023360"/>
            <a:ext cx="4526280" cy="2331720"/>
          </a:xfrm>
          <a:prstGeom prst="roundRect">
            <a:avLst>
              <a:gd name="adj" fmla="val 3922"/>
            </a:avLst>
          </a:prstGeom>
          <a:solidFill>
            <a:srgbClr val="FFFFFF"/>
          </a:solidFill>
          <a:ln w="12700">
            <a:solidFill>
              <a:srgbClr val="E1D3AE"/>
            </a:solidFill>
            <a:prstDash val="solid"/>
          </a:ln>
        </p:spPr>
      </p:sp>
      <p:sp>
        <p:nvSpPr>
          <p:cNvPr id="34" name="Shape 31"/>
          <p:cNvSpPr/>
          <p:nvPr/>
        </p:nvSpPr>
        <p:spPr>
          <a:xfrm>
            <a:off x="5577840" y="4251960"/>
            <a:ext cx="502920" cy="502920"/>
          </a:xfrm>
          <a:prstGeom prst="ellipse">
            <a:avLst/>
          </a:prstGeom>
          <a:solidFill>
            <a:srgbClr val="C0704F"/>
          </a:solidFill>
          <a:ln/>
        </p:spPr>
      </p:sp>
      <p:sp>
        <p:nvSpPr>
          <p:cNvPr id="35" name="Text 32"/>
          <p:cNvSpPr/>
          <p:nvPr/>
        </p:nvSpPr>
        <p:spPr>
          <a:xfrm>
            <a:off x="5577840" y="4251960"/>
            <a:ext cx="502920" cy="502920"/>
          </a:xfrm>
          <a:prstGeom prst="rect">
            <a:avLst/>
          </a:prstGeom>
          <a:noFill/>
          <a:ln/>
        </p:spPr>
        <p:txBody>
          <a:bodyPr wrap="square" rtlCol="0" anchor="ctr"/>
          <a:lstStyle/>
          <a:p>
            <a:pPr algn="ctr" indent="0" marL="0">
              <a:buNone/>
            </a:pPr>
            <a:r>
              <a:rPr lang="en-US" sz="950" b="1" dirty="0">
                <a:solidFill>
                  <a:srgbClr val="F7F1E4"/>
                </a:solidFill>
                <a:latin typeface="Calibri" pitchFamily="34" charset="0"/>
                <a:ea typeface="Calibri" pitchFamily="34" charset="-122"/>
                <a:cs typeface="Calibri" pitchFamily="34" charset="-120"/>
              </a:rPr>
              <a:t>DÍA 4</a:t>
            </a:r>
            <a:endParaRPr lang="en-US" sz="950" dirty="0"/>
          </a:p>
        </p:txBody>
      </p:sp>
      <p:sp>
        <p:nvSpPr>
          <p:cNvPr id="36" name="Text 33"/>
          <p:cNvSpPr/>
          <p:nvPr/>
        </p:nvSpPr>
        <p:spPr>
          <a:xfrm>
            <a:off x="6263640" y="4187952"/>
            <a:ext cx="3154680" cy="320040"/>
          </a:xfrm>
          <a:prstGeom prst="rect">
            <a:avLst/>
          </a:prstGeom>
          <a:noFill/>
          <a:ln/>
        </p:spPr>
        <p:txBody>
          <a:bodyPr wrap="square" rtlCol="0" anchor="ctr"/>
          <a:lstStyle/>
          <a:p>
            <a:pPr indent="0" marL="0">
              <a:buNone/>
            </a:pPr>
            <a:r>
              <a:rPr lang="en-US" sz="1500" b="1" dirty="0">
                <a:solidFill>
                  <a:srgbClr val="6E3550"/>
                </a:solidFill>
                <a:latin typeface="Cambria" pitchFamily="34" charset="0"/>
                <a:ea typeface="Cambria" pitchFamily="34" charset="-122"/>
                <a:cs typeface="Cambria" pitchFamily="34" charset="-120"/>
              </a:rPr>
              <a:t>Luz en medio de las tinieblas</a:t>
            </a:r>
            <a:endParaRPr lang="en-US" sz="1500" dirty="0"/>
          </a:p>
        </p:txBody>
      </p:sp>
      <p:sp>
        <p:nvSpPr>
          <p:cNvPr id="37" name="Text 34"/>
          <p:cNvSpPr/>
          <p:nvPr/>
        </p:nvSpPr>
        <p:spPr>
          <a:xfrm>
            <a:off x="6263640" y="4498848"/>
            <a:ext cx="3154680" cy="274320"/>
          </a:xfrm>
          <a:prstGeom prst="rect">
            <a:avLst/>
          </a:prstGeom>
          <a:noFill/>
          <a:ln/>
        </p:spPr>
        <p:txBody>
          <a:bodyPr wrap="square" rtlCol="0" anchor="ctr"/>
          <a:lstStyle/>
          <a:p>
            <a:pPr indent="0" marL="0">
              <a:buNone/>
            </a:pPr>
            <a:r>
              <a:rPr lang="en-US" sz="1200" i="1" dirty="0">
                <a:solidFill>
                  <a:srgbClr val="C0704F"/>
                </a:solidFill>
                <a:latin typeface="Cambria" pitchFamily="34" charset="0"/>
                <a:ea typeface="Cambria" pitchFamily="34" charset="-122"/>
                <a:cs typeface="Cambria" pitchFamily="34" charset="-120"/>
              </a:rPr>
              <a:t>"No temas a la oscuridad"</a:t>
            </a:r>
            <a:endParaRPr lang="en-US" sz="1200" dirty="0"/>
          </a:p>
        </p:txBody>
      </p:sp>
      <p:sp>
        <p:nvSpPr>
          <p:cNvPr id="38" name="Text 35"/>
          <p:cNvSpPr/>
          <p:nvPr/>
        </p:nvSpPr>
        <p:spPr>
          <a:xfrm>
            <a:off x="5577840" y="4892040"/>
            <a:ext cx="4069080" cy="411480"/>
          </a:xfrm>
          <a:prstGeom prst="rect">
            <a:avLst/>
          </a:prstGeom>
          <a:noFill/>
          <a:ln/>
        </p:spPr>
        <p:txBody>
          <a:bodyPr wrap="square" rtlCol="0" anchor="ctr"/>
          <a:lstStyle/>
          <a:p>
            <a:pPr indent="0" marL="0">
              <a:buNone/>
            </a:pPr>
            <a:r>
              <a:rPr lang="en-US" sz="1050" dirty="0">
                <a:solidFill>
                  <a:srgbClr val="6B5A3E"/>
                </a:solidFill>
                <a:latin typeface="Calibri" pitchFamily="34" charset="0"/>
                <a:ea typeface="Calibri" pitchFamily="34" charset="-122"/>
                <a:cs typeface="Calibri" pitchFamily="34" charset="-120"/>
              </a:rPr>
              <a:t>Isaías 8:11–14, 19–22  ↔  Apocalipsis 1:12–18</a:t>
            </a:r>
            <a:endParaRPr lang="en-US" sz="1050" dirty="0"/>
          </a:p>
        </p:txBody>
      </p:sp>
      <p:sp>
        <p:nvSpPr>
          <p:cNvPr id="39" name="Shape 36"/>
          <p:cNvSpPr/>
          <p:nvPr/>
        </p:nvSpPr>
        <p:spPr>
          <a:xfrm>
            <a:off x="5577840" y="5285232"/>
            <a:ext cx="1188720" cy="292608"/>
          </a:xfrm>
          <a:prstGeom prst="roundRect">
            <a:avLst>
              <a:gd name="adj" fmla="val 50000"/>
            </a:avLst>
          </a:prstGeom>
          <a:solidFill>
            <a:srgbClr val="C9A24B"/>
          </a:solidFill>
          <a:ln/>
        </p:spPr>
      </p:sp>
      <p:sp>
        <p:nvSpPr>
          <p:cNvPr id="40" name="Text 37"/>
          <p:cNvSpPr/>
          <p:nvPr/>
        </p:nvSpPr>
        <p:spPr>
          <a:xfrm>
            <a:off x="5577840" y="5285232"/>
            <a:ext cx="1188720" cy="292608"/>
          </a:xfrm>
          <a:prstGeom prst="rect">
            <a:avLst/>
          </a:prstGeom>
          <a:noFill/>
          <a:ln/>
        </p:spPr>
        <p:txBody>
          <a:bodyPr wrap="square" rtlCol="0" anchor="ctr"/>
          <a:lstStyle/>
          <a:p>
            <a:pPr algn="ctr" indent="0" marL="0">
              <a:buNone/>
            </a:pPr>
            <a:r>
              <a:rPr lang="en-US" sz="950" b="1" dirty="0">
                <a:solidFill>
                  <a:srgbClr val="3C2818"/>
                </a:solidFill>
                <a:latin typeface="Calibri" pitchFamily="34" charset="0"/>
                <a:ea typeface="Calibri" pitchFamily="34" charset="-122"/>
                <a:cs typeface="Calibri" pitchFamily="34" charset="-120"/>
              </a:rPr>
              <a:t>Dios</a:t>
            </a:r>
            <a:endParaRPr lang="en-US" sz="950" dirty="0"/>
          </a:p>
        </p:txBody>
      </p:sp>
      <p:sp>
        <p:nvSpPr>
          <p:cNvPr id="41" name="Text 38"/>
          <p:cNvSpPr/>
          <p:nvPr/>
        </p:nvSpPr>
        <p:spPr>
          <a:xfrm>
            <a:off x="5577840" y="5650992"/>
            <a:ext cx="4069080" cy="594360"/>
          </a:xfrm>
          <a:prstGeom prst="rect">
            <a:avLst/>
          </a:prstGeom>
          <a:noFill/>
          <a:ln/>
        </p:spPr>
        <p:txBody>
          <a:bodyPr wrap="square" rtlCol="0" anchor="ctr"/>
          <a:lstStyle/>
          <a:p>
            <a:pPr indent="0" marL="0">
              <a:lnSpc>
                <a:spcPct val="110000"/>
              </a:lnSpc>
              <a:buNone/>
            </a:pPr>
            <a:r>
              <a:rPr lang="en-US" sz="1050" i="1" dirty="0">
                <a:solidFill>
                  <a:srgbClr val="3C2818"/>
                </a:solidFill>
                <a:latin typeface="Calibri" pitchFamily="34" charset="0"/>
                <a:ea typeface="Calibri" pitchFamily="34" charset="-122"/>
                <a:cs typeface="Calibri" pitchFamily="34" charset="-120"/>
              </a:rPr>
              <a:t>El miedo pierde poder cuando se sabe quién camina entre los candeleros.</a:t>
            </a:r>
            <a:endParaRPr lang="en-US" sz="1050" dirty="0"/>
          </a:p>
        </p:txBody>
      </p:sp>
      <p:sp>
        <p:nvSpPr>
          <p:cNvPr id="42" name="Text 39"/>
          <p:cNvSpPr/>
          <p:nvPr/>
        </p:nvSpPr>
        <p:spPr>
          <a:xfrm>
            <a:off x="457200" y="6473952"/>
            <a:ext cx="10180015" cy="274320"/>
          </a:xfrm>
          <a:prstGeom prst="rect">
            <a:avLst/>
          </a:prstGeom>
          <a:noFill/>
          <a:ln/>
        </p:spPr>
        <p:txBody>
          <a:bodyPr wrap="square" rtlCol="0" anchor="ctr"/>
          <a:lstStyle/>
          <a:p>
            <a:pPr algn="l" indent="0" marL="0">
              <a:buNone/>
            </a:pPr>
            <a:r>
              <a:rPr lang="en-US" sz="900" dirty="0">
                <a:solidFill>
                  <a:srgbClr val="8A7358"/>
                </a:solidFill>
                <a:latin typeface="Calibri" pitchFamily="34" charset="0"/>
                <a:ea typeface="Calibri" pitchFamily="34" charset="-122"/>
                <a:cs typeface="Calibri" pitchFamily="34" charset="-120"/>
              </a:rPr>
              <a:t>DIBUJA EL CÍRCULO · RONDA 12  |  Apertura Metodológica · 13 de agosto de 2026</a:t>
            </a:r>
            <a:endParaRPr lang="en-US" sz="900" dirty="0"/>
          </a:p>
        </p:txBody>
      </p:sp>
      <p:pic>
        <p:nvPicPr>
          <p:cNvPr id="43" name="Image 1" descr="/home/claude/ronda12_pptx/logo_small.png">    </p:cNvPr>
          <p:cNvPicPr>
            <a:picLocks noChangeAspect="1"/>
          </p:cNvPicPr>
          <p:nvPr/>
        </p:nvPicPr>
        <p:blipFill>
          <a:blip r:embed="rId2"/>
          <a:stretch>
            <a:fillRect/>
          </a:stretch>
        </p:blipFill>
        <p:spPr>
          <a:xfrm>
            <a:off x="11140135" y="6199632"/>
            <a:ext cx="566928" cy="566928"/>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6E3550"/>
        </a:solidFill>
      </p:bgPr>
    </p:bg>
    <p:spTree>
      <p:nvGrpSpPr>
        <p:cNvPr id="1" name=""/>
        <p:cNvGrpSpPr/>
        <p:nvPr/>
      </p:nvGrpSpPr>
      <p:grpSpPr>
        <a:xfrm>
          <a:off x="0" y="0"/>
          <a:ext cx="0" cy="0"/>
          <a:chOff x="0" y="0"/>
          <a:chExt cx="0" cy="0"/>
        </a:xfrm>
      </p:grpSpPr>
      <p:sp>
        <p:nvSpPr>
          <p:cNvPr id="2" name="Shape 0"/>
          <p:cNvSpPr/>
          <p:nvPr/>
        </p:nvSpPr>
        <p:spPr>
          <a:xfrm>
            <a:off x="-3291840" y="-3291840"/>
            <a:ext cx="4572000" cy="4572000"/>
          </a:xfrm>
          <a:prstGeom prst="ellipse">
            <a:avLst/>
          </a:prstGeom>
          <a:ln w="25400">
            <a:solidFill>
              <a:srgbClr val="C9A24B"/>
            </a:solidFill>
            <a:prstDash val="solid"/>
          </a:ln>
        </p:spPr>
      </p:sp>
      <p:sp>
        <p:nvSpPr>
          <p:cNvPr id="3" name="Shape 1"/>
          <p:cNvSpPr/>
          <p:nvPr/>
        </p:nvSpPr>
        <p:spPr>
          <a:xfrm>
            <a:off x="9905695" y="4846320"/>
            <a:ext cx="3291840" cy="3291840"/>
          </a:xfrm>
          <a:prstGeom prst="ellipse">
            <a:avLst/>
          </a:prstGeom>
          <a:ln w="25400">
            <a:solidFill>
              <a:srgbClr val="C0704F"/>
            </a:solidFill>
            <a:prstDash val="solid"/>
          </a:ln>
        </p:spPr>
      </p:sp>
      <p:sp>
        <p:nvSpPr>
          <p:cNvPr id="4" name="Text 2"/>
          <p:cNvSpPr/>
          <p:nvPr/>
        </p:nvSpPr>
        <p:spPr>
          <a:xfrm>
            <a:off x="640080" y="457200"/>
            <a:ext cx="5486400" cy="365760"/>
          </a:xfrm>
          <a:prstGeom prst="rect">
            <a:avLst/>
          </a:prstGeom>
          <a:noFill/>
          <a:ln/>
        </p:spPr>
        <p:txBody>
          <a:bodyPr wrap="square" rtlCol="0" anchor="ctr"/>
          <a:lstStyle/>
          <a:p>
            <a:pPr indent="0" marL="0">
              <a:buNone/>
            </a:pPr>
            <a:r>
              <a:rPr lang="en-US" sz="1400" b="1" spc="200" kern="0" dirty="0">
                <a:solidFill>
                  <a:srgbClr val="E4C77A"/>
                </a:solidFill>
                <a:latin typeface="Calibri" pitchFamily="34" charset="0"/>
                <a:ea typeface="Calibri" pitchFamily="34" charset="-122"/>
                <a:cs typeface="Calibri" pitchFamily="34" charset="-120"/>
              </a:rPr>
              <a:t>Actividad</a:t>
            </a:r>
            <a:endParaRPr lang="en-US" sz="1400" dirty="0"/>
          </a:p>
        </p:txBody>
      </p:sp>
      <p:sp>
        <p:nvSpPr>
          <p:cNvPr id="5" name="Text 3"/>
          <p:cNvSpPr/>
          <p:nvPr/>
        </p:nvSpPr>
        <p:spPr>
          <a:xfrm>
            <a:off x="640080" y="777240"/>
            <a:ext cx="10911535" cy="731520"/>
          </a:xfrm>
          <a:prstGeom prst="rect">
            <a:avLst/>
          </a:prstGeom>
          <a:noFill/>
          <a:ln/>
        </p:spPr>
        <p:txBody>
          <a:bodyPr wrap="square" rtlCol="0" anchor="ctr"/>
          <a:lstStyle/>
          <a:p>
            <a:pPr indent="0" marL="0">
              <a:buNone/>
            </a:pPr>
            <a:r>
              <a:rPr lang="en-US" sz="3200" b="1" dirty="0">
                <a:solidFill>
                  <a:srgbClr val="F7F1E4"/>
                </a:solidFill>
                <a:latin typeface="Cambria" pitchFamily="34" charset="0"/>
                <a:ea typeface="Cambria" pitchFamily="34" charset="-122"/>
                <a:cs typeface="Cambria" pitchFamily="34" charset="-120"/>
              </a:rPr>
              <a:t>El Círculo de los Atributos</a:t>
            </a:r>
            <a:endParaRPr lang="en-US" sz="3200" dirty="0"/>
          </a:p>
        </p:txBody>
      </p:sp>
      <p:sp>
        <p:nvSpPr>
          <p:cNvPr id="6" name="Text 4"/>
          <p:cNvSpPr/>
          <p:nvPr/>
        </p:nvSpPr>
        <p:spPr>
          <a:xfrm>
            <a:off x="640080" y="1417320"/>
            <a:ext cx="10911535" cy="457200"/>
          </a:xfrm>
          <a:prstGeom prst="rect">
            <a:avLst/>
          </a:prstGeom>
          <a:noFill/>
          <a:ln/>
        </p:spPr>
        <p:txBody>
          <a:bodyPr wrap="square" rtlCol="0" anchor="ctr"/>
          <a:lstStyle/>
          <a:p>
            <a:pPr indent="0" marL="0">
              <a:buNone/>
            </a:pPr>
            <a:r>
              <a:rPr lang="en-US" sz="1400" i="1" dirty="0">
                <a:solidFill>
                  <a:srgbClr val="E4C77A"/>
                </a:solidFill>
                <a:latin typeface="Cambria" pitchFamily="34" charset="0"/>
                <a:ea typeface="Cambria" pitchFamily="34" charset="-122"/>
                <a:cs typeface="Cambria" pitchFamily="34" charset="-120"/>
              </a:rPr>
              <a:t>¿Quién es Dios? · Isaías 6 + Apocalipsis 4 · Categoría “Dios” de la Biblia Arcoíris</a:t>
            </a:r>
            <a:endParaRPr lang="en-US" sz="1400" dirty="0"/>
          </a:p>
        </p:txBody>
      </p:sp>
      <p:sp>
        <p:nvSpPr>
          <p:cNvPr id="7" name="Shape 5"/>
          <p:cNvSpPr/>
          <p:nvPr/>
        </p:nvSpPr>
        <p:spPr>
          <a:xfrm>
            <a:off x="640080" y="2240280"/>
            <a:ext cx="384048" cy="384048"/>
          </a:xfrm>
          <a:prstGeom prst="ellipse">
            <a:avLst/>
          </a:prstGeom>
          <a:solidFill>
            <a:srgbClr val="C9A24B"/>
          </a:solidFill>
          <a:ln/>
        </p:spPr>
      </p:sp>
      <p:sp>
        <p:nvSpPr>
          <p:cNvPr id="8" name="Text 6"/>
          <p:cNvSpPr/>
          <p:nvPr/>
        </p:nvSpPr>
        <p:spPr>
          <a:xfrm>
            <a:off x="640080" y="2240280"/>
            <a:ext cx="384048" cy="384048"/>
          </a:xfrm>
          <a:prstGeom prst="rect">
            <a:avLst/>
          </a:prstGeom>
          <a:noFill/>
          <a:ln/>
        </p:spPr>
        <p:txBody>
          <a:bodyPr wrap="square" rtlCol="0" anchor="ctr"/>
          <a:lstStyle/>
          <a:p>
            <a:pPr algn="ctr" indent="0" marL="0">
              <a:buNone/>
            </a:pPr>
            <a:r>
              <a:rPr lang="en-US" sz="1300" b="1" dirty="0">
                <a:solidFill>
                  <a:srgbClr val="3C2818"/>
                </a:solidFill>
                <a:latin typeface="Calibri" pitchFamily="34" charset="0"/>
                <a:ea typeface="Calibri" pitchFamily="34" charset="-122"/>
                <a:cs typeface="Calibri" pitchFamily="34" charset="-120"/>
              </a:rPr>
              <a:t>1</a:t>
            </a:r>
            <a:endParaRPr lang="en-US" sz="1300" dirty="0"/>
          </a:p>
        </p:txBody>
      </p:sp>
      <p:sp>
        <p:nvSpPr>
          <p:cNvPr id="9" name="Text 7"/>
          <p:cNvSpPr/>
          <p:nvPr/>
        </p:nvSpPr>
        <p:spPr>
          <a:xfrm>
            <a:off x="1234440" y="2194560"/>
            <a:ext cx="9997135" cy="502920"/>
          </a:xfrm>
          <a:prstGeom prst="rect">
            <a:avLst/>
          </a:prstGeom>
          <a:noFill/>
          <a:ln/>
        </p:spPr>
        <p:txBody>
          <a:bodyPr wrap="square" rtlCol="0" anchor="ctr"/>
          <a:lstStyle/>
          <a:p>
            <a:pPr indent="0" marL="0">
              <a:buNone/>
            </a:pPr>
            <a:r>
              <a:rPr lang="en-US" sz="1400" dirty="0">
                <a:solidFill>
                  <a:srgbClr val="F7F1E4"/>
                </a:solidFill>
                <a:latin typeface="Calibri" pitchFamily="34" charset="0"/>
                <a:ea typeface="Calibri" pitchFamily="34" charset="-122"/>
                <a:cs typeface="Calibri" pitchFamily="34" charset="-120"/>
              </a:rPr>
              <a:t>Cada quien tiene a la mano Isaías 6 y Apocalipsis 4 (ya leídos el lunes).</a:t>
            </a:r>
            <a:endParaRPr lang="en-US" sz="1400" dirty="0"/>
          </a:p>
        </p:txBody>
      </p:sp>
      <p:sp>
        <p:nvSpPr>
          <p:cNvPr id="10" name="Shape 8"/>
          <p:cNvSpPr/>
          <p:nvPr/>
        </p:nvSpPr>
        <p:spPr>
          <a:xfrm>
            <a:off x="640080" y="2862072"/>
            <a:ext cx="384048" cy="384048"/>
          </a:xfrm>
          <a:prstGeom prst="ellipse">
            <a:avLst/>
          </a:prstGeom>
          <a:solidFill>
            <a:srgbClr val="C9A24B"/>
          </a:solidFill>
          <a:ln/>
        </p:spPr>
      </p:sp>
      <p:sp>
        <p:nvSpPr>
          <p:cNvPr id="11" name="Text 9"/>
          <p:cNvSpPr/>
          <p:nvPr/>
        </p:nvSpPr>
        <p:spPr>
          <a:xfrm>
            <a:off x="640080" y="2862072"/>
            <a:ext cx="384048" cy="384048"/>
          </a:xfrm>
          <a:prstGeom prst="rect">
            <a:avLst/>
          </a:prstGeom>
          <a:noFill/>
          <a:ln/>
        </p:spPr>
        <p:txBody>
          <a:bodyPr wrap="square" rtlCol="0" anchor="ctr"/>
          <a:lstStyle/>
          <a:p>
            <a:pPr algn="ctr" indent="0" marL="0">
              <a:buNone/>
            </a:pPr>
            <a:r>
              <a:rPr lang="en-US" sz="1300" b="1" dirty="0">
                <a:solidFill>
                  <a:srgbClr val="3C2818"/>
                </a:solidFill>
                <a:latin typeface="Calibri" pitchFamily="34" charset="0"/>
                <a:ea typeface="Calibri" pitchFamily="34" charset="-122"/>
                <a:cs typeface="Calibri" pitchFamily="34" charset="-120"/>
              </a:rPr>
              <a:t>2</a:t>
            </a:r>
            <a:endParaRPr lang="en-US" sz="1300" dirty="0"/>
          </a:p>
        </p:txBody>
      </p:sp>
      <p:sp>
        <p:nvSpPr>
          <p:cNvPr id="12" name="Text 10"/>
          <p:cNvSpPr/>
          <p:nvPr/>
        </p:nvSpPr>
        <p:spPr>
          <a:xfrm>
            <a:off x="1234440" y="2816352"/>
            <a:ext cx="9997135" cy="502920"/>
          </a:xfrm>
          <a:prstGeom prst="rect">
            <a:avLst/>
          </a:prstGeom>
          <a:noFill/>
          <a:ln/>
        </p:spPr>
        <p:txBody>
          <a:bodyPr wrap="square" rtlCol="0" anchor="ctr"/>
          <a:lstStyle/>
          <a:p>
            <a:pPr indent="0" marL="0">
              <a:buNone/>
            </a:pPr>
            <a:r>
              <a:rPr lang="en-US" sz="1400" dirty="0">
                <a:solidFill>
                  <a:srgbClr val="F7F1E4"/>
                </a:solidFill>
                <a:latin typeface="Calibri" pitchFamily="34" charset="0"/>
                <a:ea typeface="Calibri" pitchFamily="34" charset="-122"/>
                <a:cs typeface="Calibri" pitchFamily="34" charset="-120"/>
              </a:rPr>
              <a:t>Pregunta: “En una palabra o frase corta, ¿qué te reveló el texto sobre el carácter de Dios?”</a:t>
            </a:r>
            <a:endParaRPr lang="en-US" sz="1400" dirty="0"/>
          </a:p>
        </p:txBody>
      </p:sp>
      <p:sp>
        <p:nvSpPr>
          <p:cNvPr id="13" name="Shape 11"/>
          <p:cNvSpPr/>
          <p:nvPr/>
        </p:nvSpPr>
        <p:spPr>
          <a:xfrm>
            <a:off x="640080" y="3483864"/>
            <a:ext cx="384048" cy="384048"/>
          </a:xfrm>
          <a:prstGeom prst="ellipse">
            <a:avLst/>
          </a:prstGeom>
          <a:solidFill>
            <a:srgbClr val="C9A24B"/>
          </a:solidFill>
          <a:ln/>
        </p:spPr>
      </p:sp>
      <p:sp>
        <p:nvSpPr>
          <p:cNvPr id="14" name="Text 12"/>
          <p:cNvSpPr/>
          <p:nvPr/>
        </p:nvSpPr>
        <p:spPr>
          <a:xfrm>
            <a:off x="640080" y="3483864"/>
            <a:ext cx="384048" cy="384048"/>
          </a:xfrm>
          <a:prstGeom prst="rect">
            <a:avLst/>
          </a:prstGeom>
          <a:noFill/>
          <a:ln/>
        </p:spPr>
        <p:txBody>
          <a:bodyPr wrap="square" rtlCol="0" anchor="ctr"/>
          <a:lstStyle/>
          <a:p>
            <a:pPr algn="ctr" indent="0" marL="0">
              <a:buNone/>
            </a:pPr>
            <a:r>
              <a:rPr lang="en-US" sz="1300" b="1" dirty="0">
                <a:solidFill>
                  <a:srgbClr val="3C2818"/>
                </a:solidFill>
                <a:latin typeface="Calibri" pitchFamily="34" charset="0"/>
                <a:ea typeface="Calibri" pitchFamily="34" charset="-122"/>
                <a:cs typeface="Calibri" pitchFamily="34" charset="-120"/>
              </a:rPr>
              <a:t>3</a:t>
            </a:r>
            <a:endParaRPr lang="en-US" sz="1300" dirty="0"/>
          </a:p>
        </p:txBody>
      </p:sp>
      <p:sp>
        <p:nvSpPr>
          <p:cNvPr id="15" name="Text 13"/>
          <p:cNvSpPr/>
          <p:nvPr/>
        </p:nvSpPr>
        <p:spPr>
          <a:xfrm>
            <a:off x="1234440" y="3438144"/>
            <a:ext cx="9997135" cy="502920"/>
          </a:xfrm>
          <a:prstGeom prst="rect">
            <a:avLst/>
          </a:prstGeom>
          <a:noFill/>
          <a:ln/>
        </p:spPr>
        <p:txBody>
          <a:bodyPr wrap="square" rtlCol="0" anchor="ctr"/>
          <a:lstStyle/>
          <a:p>
            <a:pPr indent="0" marL="0">
              <a:buNone/>
            </a:pPr>
            <a:r>
              <a:rPr lang="en-US" sz="1400" dirty="0">
                <a:solidFill>
                  <a:srgbClr val="F7F1E4"/>
                </a:solidFill>
                <a:latin typeface="Calibri" pitchFamily="34" charset="0"/>
                <a:ea typeface="Calibri" pitchFamily="34" charset="-122"/>
                <a:cs typeface="Calibri" pitchFamily="34" charset="-120"/>
              </a:rPr>
              <a:t>Ronda abierta por micrófono: cada persona dice su palabra, sin explicarla — la deja “puesta en el círculo”.</a:t>
            </a:r>
            <a:endParaRPr lang="en-US" sz="1400" dirty="0"/>
          </a:p>
        </p:txBody>
      </p:sp>
      <p:sp>
        <p:nvSpPr>
          <p:cNvPr id="16" name="Shape 14"/>
          <p:cNvSpPr/>
          <p:nvPr/>
        </p:nvSpPr>
        <p:spPr>
          <a:xfrm>
            <a:off x="640080" y="4105656"/>
            <a:ext cx="384048" cy="384048"/>
          </a:xfrm>
          <a:prstGeom prst="ellipse">
            <a:avLst/>
          </a:prstGeom>
          <a:solidFill>
            <a:srgbClr val="C9A24B"/>
          </a:solidFill>
          <a:ln/>
        </p:spPr>
      </p:sp>
      <p:sp>
        <p:nvSpPr>
          <p:cNvPr id="17" name="Text 15"/>
          <p:cNvSpPr/>
          <p:nvPr/>
        </p:nvSpPr>
        <p:spPr>
          <a:xfrm>
            <a:off x="640080" y="4105656"/>
            <a:ext cx="384048" cy="384048"/>
          </a:xfrm>
          <a:prstGeom prst="rect">
            <a:avLst/>
          </a:prstGeom>
          <a:noFill/>
          <a:ln/>
        </p:spPr>
        <p:txBody>
          <a:bodyPr wrap="square" rtlCol="0" anchor="ctr"/>
          <a:lstStyle/>
          <a:p>
            <a:pPr algn="ctr" indent="0" marL="0">
              <a:buNone/>
            </a:pPr>
            <a:r>
              <a:rPr lang="en-US" sz="1300" b="1" dirty="0">
                <a:solidFill>
                  <a:srgbClr val="3C2818"/>
                </a:solidFill>
                <a:latin typeface="Calibri" pitchFamily="34" charset="0"/>
                <a:ea typeface="Calibri" pitchFamily="34" charset="-122"/>
                <a:cs typeface="Calibri" pitchFamily="34" charset="-120"/>
              </a:rPr>
              <a:t>4</a:t>
            </a:r>
            <a:endParaRPr lang="en-US" sz="1300" dirty="0"/>
          </a:p>
        </p:txBody>
      </p:sp>
      <p:sp>
        <p:nvSpPr>
          <p:cNvPr id="18" name="Text 16"/>
          <p:cNvSpPr/>
          <p:nvPr/>
        </p:nvSpPr>
        <p:spPr>
          <a:xfrm>
            <a:off x="1234440" y="4059936"/>
            <a:ext cx="9997135" cy="502920"/>
          </a:xfrm>
          <a:prstGeom prst="rect">
            <a:avLst/>
          </a:prstGeom>
          <a:noFill/>
          <a:ln/>
        </p:spPr>
        <p:txBody>
          <a:bodyPr wrap="square" rtlCol="0" anchor="ctr"/>
          <a:lstStyle/>
          <a:p>
            <a:pPr indent="0" marL="0">
              <a:buNone/>
            </a:pPr>
            <a:r>
              <a:rPr lang="en-US" sz="1400" dirty="0">
                <a:solidFill>
                  <a:srgbClr val="F7F1E4"/>
                </a:solidFill>
                <a:latin typeface="Calibri" pitchFamily="34" charset="0"/>
                <a:ea typeface="Calibri" pitchFamily="34" charset="-122"/>
                <a:cs typeface="Calibri" pitchFamily="34" charset="-120"/>
              </a:rPr>
              <a:t>Se leen todas las palabras seguidas, como un solo poema colectivo construido entre todos.</a:t>
            </a:r>
            <a:endParaRPr lang="en-US" sz="1400" dirty="0"/>
          </a:p>
        </p:txBody>
      </p:sp>
      <p:sp>
        <p:nvSpPr>
          <p:cNvPr id="19" name="Shape 17"/>
          <p:cNvSpPr/>
          <p:nvPr/>
        </p:nvSpPr>
        <p:spPr>
          <a:xfrm>
            <a:off x="640080" y="4727448"/>
            <a:ext cx="384048" cy="384048"/>
          </a:xfrm>
          <a:prstGeom prst="ellipse">
            <a:avLst/>
          </a:prstGeom>
          <a:solidFill>
            <a:srgbClr val="C9A24B"/>
          </a:solidFill>
          <a:ln/>
        </p:spPr>
      </p:sp>
      <p:sp>
        <p:nvSpPr>
          <p:cNvPr id="20" name="Text 18"/>
          <p:cNvSpPr/>
          <p:nvPr/>
        </p:nvSpPr>
        <p:spPr>
          <a:xfrm>
            <a:off x="640080" y="4727448"/>
            <a:ext cx="384048" cy="384048"/>
          </a:xfrm>
          <a:prstGeom prst="rect">
            <a:avLst/>
          </a:prstGeom>
          <a:noFill/>
          <a:ln/>
        </p:spPr>
        <p:txBody>
          <a:bodyPr wrap="square" rtlCol="0" anchor="ctr"/>
          <a:lstStyle/>
          <a:p>
            <a:pPr algn="ctr" indent="0" marL="0">
              <a:buNone/>
            </a:pPr>
            <a:r>
              <a:rPr lang="en-US" sz="1300" b="1" dirty="0">
                <a:solidFill>
                  <a:srgbClr val="3C2818"/>
                </a:solidFill>
                <a:latin typeface="Calibri" pitchFamily="34" charset="0"/>
                <a:ea typeface="Calibri" pitchFamily="34" charset="-122"/>
                <a:cs typeface="Calibri" pitchFamily="34" charset="-120"/>
              </a:rPr>
              <a:t>5</a:t>
            </a:r>
            <a:endParaRPr lang="en-US" sz="1300" dirty="0"/>
          </a:p>
        </p:txBody>
      </p:sp>
      <p:sp>
        <p:nvSpPr>
          <p:cNvPr id="21" name="Text 19"/>
          <p:cNvSpPr/>
          <p:nvPr/>
        </p:nvSpPr>
        <p:spPr>
          <a:xfrm>
            <a:off x="1234440" y="4681728"/>
            <a:ext cx="9997135" cy="502920"/>
          </a:xfrm>
          <a:prstGeom prst="rect">
            <a:avLst/>
          </a:prstGeom>
          <a:noFill/>
          <a:ln/>
        </p:spPr>
        <p:txBody>
          <a:bodyPr wrap="square" rtlCol="0" anchor="ctr"/>
          <a:lstStyle/>
          <a:p>
            <a:pPr indent="0" marL="0">
              <a:buNone/>
            </a:pPr>
            <a:r>
              <a:rPr lang="en-US" sz="1400" dirty="0">
                <a:solidFill>
                  <a:srgbClr val="F7F1E4"/>
                </a:solidFill>
                <a:latin typeface="Calibri" pitchFamily="34" charset="0"/>
                <a:ea typeface="Calibri" pitchFamily="34" charset="-122"/>
                <a:cs typeface="Calibri" pitchFamily="34" charset="-120"/>
              </a:rPr>
              <a:t>Cierre: “Nadie describe a Dios completo solo — pero juntos, el círculo se llena.”</a:t>
            </a:r>
            <a:endParaRPr lang="en-US" sz="1400" dirty="0"/>
          </a:p>
        </p:txBody>
      </p:sp>
      <p:sp>
        <p:nvSpPr>
          <p:cNvPr id="22" name="Shape 20"/>
          <p:cNvSpPr/>
          <p:nvPr/>
        </p:nvSpPr>
        <p:spPr>
          <a:xfrm>
            <a:off x="640080" y="5486400"/>
            <a:ext cx="10911535" cy="731520"/>
          </a:xfrm>
          <a:prstGeom prst="roundRect">
            <a:avLst>
              <a:gd name="adj" fmla="val 12500"/>
            </a:avLst>
          </a:prstGeom>
          <a:solidFill>
            <a:srgbClr val="2B1B10"/>
          </a:solidFill>
          <a:ln w="12700">
            <a:solidFill>
              <a:srgbClr val="C9A24B"/>
            </a:solidFill>
            <a:prstDash val="solid"/>
          </a:ln>
        </p:spPr>
      </p:sp>
      <p:sp>
        <p:nvSpPr>
          <p:cNvPr id="23" name="Text 21"/>
          <p:cNvSpPr/>
          <p:nvPr/>
        </p:nvSpPr>
        <p:spPr>
          <a:xfrm>
            <a:off x="868680" y="5486400"/>
            <a:ext cx="10454335" cy="731520"/>
          </a:xfrm>
          <a:prstGeom prst="rect">
            <a:avLst/>
          </a:prstGeom>
          <a:noFill/>
          <a:ln/>
        </p:spPr>
        <p:txBody>
          <a:bodyPr wrap="square" rtlCol="0" anchor="ctr"/>
          <a:lstStyle/>
          <a:p>
            <a:pPr indent="0" marL="0">
              <a:buNone/>
            </a:pPr>
            <a:r>
              <a:rPr lang="en-US" sz="1150" i="1" dirty="0">
                <a:solidFill>
                  <a:srgbClr val="E4C77A"/>
                </a:solidFill>
                <a:latin typeface="Calibri" pitchFamily="34" charset="0"/>
                <a:ea typeface="Calibri" pitchFamily="34" charset="-122"/>
                <a:cs typeface="Calibri" pitchFamily="34" charset="-120"/>
              </a:rPr>
              <a:t>Variante si sobra tiempo: repite el ejercicio con la pregunta del Día 3 — “¿qué te confrontó del pasaje?” — para tender el puente hacia el arrepentimiento de las 7 iglesias.</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1E4"/>
        </a:solidFill>
      </p:bgPr>
    </p:bg>
    <p:spTree>
      <p:nvGrpSpPr>
        <p:cNvPr id="1" name=""/>
        <p:cNvGrpSpPr/>
        <p:nvPr/>
      </p:nvGrpSpPr>
      <p:grpSpPr>
        <a:xfrm>
          <a:off x="0" y="0"/>
          <a:ext cx="0" cy="0"/>
          <a:chOff x="0" y="0"/>
          <a:chExt cx="0" cy="0"/>
        </a:xfrm>
      </p:grpSpPr>
      <p:sp>
        <p:nvSpPr>
          <p:cNvPr id="2" name="Text 0"/>
          <p:cNvSpPr/>
          <p:nvPr/>
        </p:nvSpPr>
        <p:spPr>
          <a:xfrm>
            <a:off x="548640" y="365760"/>
            <a:ext cx="7315200" cy="548640"/>
          </a:xfrm>
          <a:prstGeom prst="rect">
            <a:avLst/>
          </a:prstGeom>
          <a:noFill/>
          <a:ln/>
        </p:spPr>
        <p:txBody>
          <a:bodyPr wrap="square" rtlCol="0" anchor="ctr"/>
          <a:lstStyle/>
          <a:p>
            <a:pPr indent="0" marL="0">
              <a:buNone/>
            </a:pPr>
            <a:r>
              <a:rPr lang="en-US" sz="2800" b="1" dirty="0">
                <a:solidFill>
                  <a:srgbClr val="6E3550"/>
                </a:solidFill>
                <a:latin typeface="Cambria" pitchFamily="34" charset="0"/>
                <a:ea typeface="Cambria" pitchFamily="34" charset="-122"/>
                <a:cs typeface="Cambria" pitchFamily="34" charset="-120"/>
              </a:rPr>
              <a:t>Patmos: destierro y visión</a:t>
            </a:r>
            <a:endParaRPr lang="en-US" sz="2800" dirty="0"/>
          </a:p>
        </p:txBody>
      </p:sp>
      <p:sp>
        <p:nvSpPr>
          <p:cNvPr id="3" name="Text 1"/>
          <p:cNvSpPr/>
          <p:nvPr/>
        </p:nvSpPr>
        <p:spPr>
          <a:xfrm>
            <a:off x="548640" y="896112"/>
            <a:ext cx="7315200" cy="365760"/>
          </a:xfrm>
          <a:prstGeom prst="rect">
            <a:avLst/>
          </a:prstGeom>
          <a:noFill/>
          <a:ln/>
        </p:spPr>
        <p:txBody>
          <a:bodyPr wrap="square" rtlCol="0" anchor="ctr"/>
          <a:lstStyle/>
          <a:p>
            <a:pPr indent="0" marL="0">
              <a:buNone/>
            </a:pPr>
            <a:r>
              <a:rPr lang="en-US" sz="1300" i="1" dirty="0">
                <a:solidFill>
                  <a:srgbClr val="C0704F"/>
                </a:solidFill>
                <a:latin typeface="Calibri" pitchFamily="34" charset="0"/>
                <a:ea typeface="Calibri" pitchFamily="34" charset="-122"/>
                <a:cs typeface="Calibri" pitchFamily="34" charset="-120"/>
              </a:rPr>
              <a:t>El contexto detrás de Apocalipsis 1</a:t>
            </a:r>
            <a:endParaRPr lang="en-US" sz="1300" dirty="0"/>
          </a:p>
        </p:txBody>
      </p:sp>
      <p:pic>
        <p:nvPicPr>
          <p:cNvPr id="4" name="Image 0" descr="/home/claude/ronda12_pptx/img/mapa_siete_iglesias.jpg">    </p:cNvPr>
          <p:cNvPicPr>
            <a:picLocks noChangeAspect="1"/>
          </p:cNvPicPr>
          <p:nvPr/>
        </p:nvPicPr>
        <p:blipFill>
          <a:blip r:embed="rId1"/>
          <a:stretch>
            <a:fillRect/>
          </a:stretch>
        </p:blipFill>
        <p:spPr>
          <a:xfrm>
            <a:off x="5760720" y="1417320"/>
            <a:ext cx="4114800" cy="3291840"/>
          </a:xfrm>
          <a:prstGeom prst="rect">
            <a:avLst/>
          </a:prstGeom>
        </p:spPr>
      </p:pic>
      <p:sp>
        <p:nvSpPr>
          <p:cNvPr id="5" name="Text 2"/>
          <p:cNvSpPr/>
          <p:nvPr/>
        </p:nvSpPr>
        <p:spPr>
          <a:xfrm>
            <a:off x="5760720" y="4754880"/>
            <a:ext cx="4114800" cy="274320"/>
          </a:xfrm>
          <a:prstGeom prst="rect">
            <a:avLst/>
          </a:prstGeom>
          <a:noFill/>
          <a:ln/>
        </p:spPr>
        <p:txBody>
          <a:bodyPr wrap="square" rtlCol="0" anchor="ctr"/>
          <a:lstStyle/>
          <a:p>
            <a:pPr algn="ctr" indent="0" marL="0">
              <a:buNone/>
            </a:pPr>
            <a:r>
              <a:rPr lang="en-US" sz="800" i="1" dirty="0">
                <a:solidFill>
                  <a:srgbClr val="8A7358"/>
                </a:solidFill>
                <a:latin typeface="Calibri" pitchFamily="34" charset="0"/>
                <a:ea typeface="Calibri" pitchFamily="34" charset="-122"/>
                <a:cs typeface="Calibri" pitchFamily="34" charset="-120"/>
              </a:rPr>
              <a:t>Mapa: Biblia de estudio arcoíris · Holman (2015)</a:t>
            </a:r>
            <a:endParaRPr lang="en-US" sz="800" dirty="0"/>
          </a:p>
        </p:txBody>
      </p:sp>
      <p:pic>
        <p:nvPicPr>
          <p:cNvPr id="6" name="Image 1" descr="/home/claude/ronda12_pptx/img/juan_patmos.jpg">    </p:cNvPr>
          <p:cNvPicPr>
            <a:picLocks noChangeAspect="1"/>
          </p:cNvPicPr>
          <p:nvPr/>
        </p:nvPicPr>
        <p:blipFill>
          <a:blip r:embed="rId2"/>
          <a:stretch>
            <a:fillRect/>
          </a:stretch>
        </p:blipFill>
        <p:spPr>
          <a:xfrm>
            <a:off x="10058400" y="1417320"/>
            <a:ext cx="1691640" cy="2523744"/>
          </a:xfrm>
          <a:prstGeom prst="rect">
            <a:avLst/>
          </a:prstGeom>
        </p:spPr>
      </p:pic>
      <p:sp>
        <p:nvSpPr>
          <p:cNvPr id="7" name="Text 3"/>
          <p:cNvSpPr/>
          <p:nvPr/>
        </p:nvSpPr>
        <p:spPr>
          <a:xfrm>
            <a:off x="9966960" y="3986784"/>
            <a:ext cx="1874520" cy="274320"/>
          </a:xfrm>
          <a:prstGeom prst="rect">
            <a:avLst/>
          </a:prstGeom>
          <a:noFill/>
          <a:ln/>
        </p:spPr>
        <p:txBody>
          <a:bodyPr wrap="square" rtlCol="0" anchor="ctr"/>
          <a:lstStyle/>
          <a:p>
            <a:pPr algn="ctr" indent="0" marL="0">
              <a:buNone/>
            </a:pPr>
            <a:r>
              <a:rPr lang="en-US" sz="800" i="1" dirty="0">
                <a:solidFill>
                  <a:srgbClr val="8A7358"/>
                </a:solidFill>
                <a:latin typeface="Calibri" pitchFamily="34" charset="0"/>
                <a:ea typeface="Calibri" pitchFamily="34" charset="-122"/>
                <a:cs typeface="Calibri" pitchFamily="34" charset="-120"/>
              </a:rPr>
              <a:t>Juan en Patmos ·</a:t>
            </a:r>
            <a:endParaRPr lang="en-US" sz="800" dirty="0"/>
          </a:p>
          <a:p>
            <a:pPr algn="ctr" indent="0" marL="0">
              <a:buNone/>
            </a:pPr>
            <a:r>
              <a:rPr lang="en-US" sz="800" i="1" dirty="0">
                <a:solidFill>
                  <a:srgbClr val="8A7358"/>
                </a:solidFill>
                <a:latin typeface="Calibri" pitchFamily="34" charset="0"/>
                <a:ea typeface="Calibri" pitchFamily="34" charset="-122"/>
                <a:cs typeface="Calibri" pitchFamily="34" charset="-120"/>
              </a:rPr>
              <a:t>Watch Tower (1988)</a:t>
            </a:r>
            <a:endParaRPr lang="en-US" sz="800" dirty="0"/>
          </a:p>
        </p:txBody>
      </p:sp>
      <p:sp>
        <p:nvSpPr>
          <p:cNvPr id="8" name="Shape 4"/>
          <p:cNvSpPr/>
          <p:nvPr/>
        </p:nvSpPr>
        <p:spPr>
          <a:xfrm>
            <a:off x="594360" y="1746504"/>
            <a:ext cx="128016" cy="128016"/>
          </a:xfrm>
          <a:prstGeom prst="ellipse">
            <a:avLst/>
          </a:prstGeom>
          <a:solidFill>
            <a:srgbClr val="C0704F"/>
          </a:solidFill>
          <a:ln/>
        </p:spPr>
      </p:sp>
      <p:sp>
        <p:nvSpPr>
          <p:cNvPr id="9" name="Text 5"/>
          <p:cNvSpPr/>
          <p:nvPr/>
        </p:nvSpPr>
        <p:spPr>
          <a:xfrm>
            <a:off x="914400" y="1691640"/>
            <a:ext cx="4572000" cy="777240"/>
          </a:xfrm>
          <a:prstGeom prst="rect">
            <a:avLst/>
          </a:prstGeom>
          <a:noFill/>
          <a:ln/>
        </p:spPr>
        <p:txBody>
          <a:bodyPr wrap="square" rtlCol="0" anchor="t"/>
          <a:lstStyle/>
          <a:p>
            <a:pPr indent="0" marL="0">
              <a:buNone/>
            </a:pPr>
            <a:r>
              <a:rPr lang="en-US" sz="1250" dirty="0">
                <a:solidFill>
                  <a:srgbClr val="3C2818"/>
                </a:solidFill>
                <a:latin typeface="Calibri" pitchFamily="34" charset="0"/>
                <a:ea typeface="Calibri" pitchFamily="34" charset="-122"/>
                <a:cs typeface="Calibri" pitchFamily="34" charset="-120"/>
              </a:rPr>
              <a:t>Isla pequeña y rocosa del mar Egeo, frente a la costa de Asia Menor (hoy Turquía).</a:t>
            </a:r>
            <a:endParaRPr lang="en-US" sz="1250" dirty="0"/>
          </a:p>
        </p:txBody>
      </p:sp>
      <p:sp>
        <p:nvSpPr>
          <p:cNvPr id="10" name="Shape 6"/>
          <p:cNvSpPr/>
          <p:nvPr/>
        </p:nvSpPr>
        <p:spPr>
          <a:xfrm>
            <a:off x="594360" y="2660904"/>
            <a:ext cx="128016" cy="128016"/>
          </a:xfrm>
          <a:prstGeom prst="ellipse">
            <a:avLst/>
          </a:prstGeom>
          <a:solidFill>
            <a:srgbClr val="C0704F"/>
          </a:solidFill>
          <a:ln/>
        </p:spPr>
      </p:sp>
      <p:sp>
        <p:nvSpPr>
          <p:cNvPr id="11" name="Text 7"/>
          <p:cNvSpPr/>
          <p:nvPr/>
        </p:nvSpPr>
        <p:spPr>
          <a:xfrm>
            <a:off x="914400" y="2606040"/>
            <a:ext cx="4572000" cy="777240"/>
          </a:xfrm>
          <a:prstGeom prst="rect">
            <a:avLst/>
          </a:prstGeom>
          <a:noFill/>
          <a:ln/>
        </p:spPr>
        <p:txBody>
          <a:bodyPr wrap="square" rtlCol="0" anchor="t"/>
          <a:lstStyle/>
          <a:p>
            <a:pPr indent="0" marL="0">
              <a:buNone/>
            </a:pPr>
            <a:r>
              <a:rPr lang="en-US" sz="1250" dirty="0">
                <a:solidFill>
                  <a:srgbClr val="3C2818"/>
                </a:solidFill>
                <a:latin typeface="Calibri" pitchFamily="34" charset="0"/>
                <a:ea typeface="Calibri" pitchFamily="34" charset="-122"/>
                <a:cs typeface="Calibri" pitchFamily="34" charset="-120"/>
              </a:rPr>
              <a:t>Juan estaba desterrado allí — no de vacaciones: pagaba por predicar (Apocalipsis 1:9).</a:t>
            </a:r>
            <a:endParaRPr lang="en-US" sz="1250" dirty="0"/>
          </a:p>
        </p:txBody>
      </p:sp>
      <p:sp>
        <p:nvSpPr>
          <p:cNvPr id="12" name="Shape 8"/>
          <p:cNvSpPr/>
          <p:nvPr/>
        </p:nvSpPr>
        <p:spPr>
          <a:xfrm>
            <a:off x="594360" y="3575304"/>
            <a:ext cx="128016" cy="128016"/>
          </a:xfrm>
          <a:prstGeom prst="ellipse">
            <a:avLst/>
          </a:prstGeom>
          <a:solidFill>
            <a:srgbClr val="C0704F"/>
          </a:solidFill>
          <a:ln/>
        </p:spPr>
      </p:sp>
      <p:sp>
        <p:nvSpPr>
          <p:cNvPr id="13" name="Text 9"/>
          <p:cNvSpPr/>
          <p:nvPr/>
        </p:nvSpPr>
        <p:spPr>
          <a:xfrm>
            <a:off x="914400" y="3520440"/>
            <a:ext cx="4572000" cy="777240"/>
          </a:xfrm>
          <a:prstGeom prst="rect">
            <a:avLst/>
          </a:prstGeom>
          <a:noFill/>
          <a:ln/>
        </p:spPr>
        <p:txBody>
          <a:bodyPr wrap="square" rtlCol="0" anchor="t"/>
          <a:lstStyle/>
          <a:p>
            <a:pPr indent="0" marL="0">
              <a:buNone/>
            </a:pPr>
            <a:r>
              <a:rPr lang="en-US" sz="1250" dirty="0">
                <a:solidFill>
                  <a:srgbClr val="3C2818"/>
                </a:solidFill>
                <a:latin typeface="Calibri" pitchFamily="34" charset="0"/>
                <a:ea typeface="Calibri" pitchFamily="34" charset="-122"/>
                <a:cs typeface="Calibri" pitchFamily="34" charset="-120"/>
              </a:rPr>
              <a:t>Desde el aislamiento recibe la visión más grande de la Biblia sobre el futuro.</a:t>
            </a:r>
            <a:endParaRPr lang="en-US" sz="1250" dirty="0"/>
          </a:p>
        </p:txBody>
      </p:sp>
      <p:sp>
        <p:nvSpPr>
          <p:cNvPr id="14" name="Shape 10"/>
          <p:cNvSpPr/>
          <p:nvPr/>
        </p:nvSpPr>
        <p:spPr>
          <a:xfrm>
            <a:off x="594360" y="4489704"/>
            <a:ext cx="128016" cy="128016"/>
          </a:xfrm>
          <a:prstGeom prst="ellipse">
            <a:avLst/>
          </a:prstGeom>
          <a:solidFill>
            <a:srgbClr val="C0704F"/>
          </a:solidFill>
          <a:ln/>
        </p:spPr>
      </p:sp>
      <p:sp>
        <p:nvSpPr>
          <p:cNvPr id="15" name="Text 11"/>
          <p:cNvSpPr/>
          <p:nvPr/>
        </p:nvSpPr>
        <p:spPr>
          <a:xfrm>
            <a:off x="914400" y="4434840"/>
            <a:ext cx="4572000" cy="777240"/>
          </a:xfrm>
          <a:prstGeom prst="rect">
            <a:avLst/>
          </a:prstGeom>
          <a:noFill/>
          <a:ln/>
        </p:spPr>
        <p:txBody>
          <a:bodyPr wrap="square" rtlCol="0" anchor="t"/>
          <a:lstStyle/>
          <a:p>
            <a:pPr indent="0" marL="0">
              <a:buNone/>
            </a:pPr>
            <a:r>
              <a:rPr lang="en-US" sz="1250" dirty="0">
                <a:solidFill>
                  <a:srgbClr val="3C2818"/>
                </a:solidFill>
                <a:latin typeface="Calibri" pitchFamily="34" charset="0"/>
                <a:ea typeface="Calibri" pitchFamily="34" charset="-122"/>
                <a:cs typeface="Calibri" pitchFamily="34" charset="-120"/>
              </a:rPr>
              <a:t>Principio para la vida: Dios habla en los lugares de destierro, no solo en los templos.</a:t>
            </a:r>
            <a:endParaRPr lang="en-US" sz="1250" dirty="0"/>
          </a:p>
        </p:txBody>
      </p:sp>
      <p:sp>
        <p:nvSpPr>
          <p:cNvPr id="16" name="Text 12"/>
          <p:cNvSpPr/>
          <p:nvPr/>
        </p:nvSpPr>
        <p:spPr>
          <a:xfrm>
            <a:off x="457200" y="6473952"/>
            <a:ext cx="10180015" cy="274320"/>
          </a:xfrm>
          <a:prstGeom prst="rect">
            <a:avLst/>
          </a:prstGeom>
          <a:noFill/>
          <a:ln/>
        </p:spPr>
        <p:txBody>
          <a:bodyPr wrap="square" rtlCol="0" anchor="ctr"/>
          <a:lstStyle/>
          <a:p>
            <a:pPr algn="l" indent="0" marL="0">
              <a:buNone/>
            </a:pPr>
            <a:r>
              <a:rPr lang="en-US" sz="900" dirty="0">
                <a:solidFill>
                  <a:srgbClr val="8A7358"/>
                </a:solidFill>
                <a:latin typeface="Calibri" pitchFamily="34" charset="0"/>
                <a:ea typeface="Calibri" pitchFamily="34" charset="-122"/>
                <a:cs typeface="Calibri" pitchFamily="34" charset="-120"/>
              </a:rPr>
              <a:t>DIBUJA EL CÍRCULO · RONDA 12  |  Apertura Metodológica · 13 de agosto de 2026</a:t>
            </a:r>
            <a:endParaRPr lang="en-US" sz="900" dirty="0"/>
          </a:p>
        </p:txBody>
      </p:sp>
      <p:pic>
        <p:nvPicPr>
          <p:cNvPr id="17" name="Image 2" descr="/home/claude/ronda12_pptx/logo_small.png">    </p:cNvPr>
          <p:cNvPicPr>
            <a:picLocks noChangeAspect="1"/>
          </p:cNvPicPr>
          <p:nvPr/>
        </p:nvPicPr>
        <p:blipFill>
          <a:blip r:embed="rId3"/>
          <a:stretch>
            <a:fillRect/>
          </a:stretch>
        </p:blipFill>
        <p:spPr>
          <a:xfrm>
            <a:off x="11140135" y="6199632"/>
            <a:ext cx="566928" cy="566928"/>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3C2818"/>
        </a:solidFill>
      </p:bgPr>
    </p:bg>
    <p:spTree>
      <p:nvGrpSpPr>
        <p:cNvPr id="1" name=""/>
        <p:cNvGrpSpPr/>
        <p:nvPr/>
      </p:nvGrpSpPr>
      <p:grpSpPr>
        <a:xfrm>
          <a:off x="0" y="0"/>
          <a:ext cx="0" cy="0"/>
          <a:chOff x="0" y="0"/>
          <a:chExt cx="0" cy="0"/>
        </a:xfrm>
      </p:grpSpPr>
      <p:sp>
        <p:nvSpPr>
          <p:cNvPr id="2" name="Text 0"/>
          <p:cNvSpPr/>
          <p:nvPr/>
        </p:nvSpPr>
        <p:spPr>
          <a:xfrm>
            <a:off x="640080" y="411480"/>
            <a:ext cx="10911535" cy="640080"/>
          </a:xfrm>
          <a:prstGeom prst="rect">
            <a:avLst/>
          </a:prstGeom>
          <a:noFill/>
          <a:ln/>
        </p:spPr>
        <p:txBody>
          <a:bodyPr wrap="square" rtlCol="0" anchor="ctr"/>
          <a:lstStyle/>
          <a:p>
            <a:pPr indent="0" marL="0">
              <a:buNone/>
            </a:pPr>
            <a:r>
              <a:rPr lang="en-US" sz="2800" b="1" dirty="0">
                <a:solidFill>
                  <a:srgbClr val="F7F1E4"/>
                </a:solidFill>
                <a:latin typeface="Cambria" pitchFamily="34" charset="0"/>
                <a:ea typeface="Cambria" pitchFamily="34" charset="-122"/>
                <a:cs typeface="Cambria" pitchFamily="34" charset="-120"/>
              </a:rPr>
              <a:t>Las siete iglesias de Apocalipsis 2–3</a:t>
            </a:r>
            <a:endParaRPr lang="en-US" sz="2800" dirty="0"/>
          </a:p>
        </p:txBody>
      </p:sp>
      <p:sp>
        <p:nvSpPr>
          <p:cNvPr id="3" name="Text 1"/>
          <p:cNvSpPr/>
          <p:nvPr/>
        </p:nvSpPr>
        <p:spPr>
          <a:xfrm>
            <a:off x="640080" y="1005840"/>
            <a:ext cx="10911535" cy="365760"/>
          </a:xfrm>
          <a:prstGeom prst="rect">
            <a:avLst/>
          </a:prstGeom>
          <a:noFill/>
          <a:ln/>
        </p:spPr>
        <p:txBody>
          <a:bodyPr wrap="square" rtlCol="0" anchor="ctr"/>
          <a:lstStyle/>
          <a:p>
            <a:pPr indent="0" marL="0">
              <a:buNone/>
            </a:pPr>
            <a:r>
              <a:rPr lang="en-US" sz="1300" i="1" dirty="0">
                <a:solidFill>
                  <a:srgbClr val="E4C77A"/>
                </a:solidFill>
                <a:latin typeface="Calibri" pitchFamily="34" charset="0"/>
                <a:ea typeface="Calibri" pitchFamily="34" charset="-122"/>
                <a:cs typeface="Calibri" pitchFamily="34" charset="-120"/>
              </a:rPr>
              <a:t>Congregaciones reales, en una ruta postal real de Asia Menor</a:t>
            </a:r>
            <a:endParaRPr lang="en-US" sz="1300" dirty="0"/>
          </a:p>
        </p:txBody>
      </p:sp>
      <p:sp>
        <p:nvSpPr>
          <p:cNvPr id="4" name="Shape 2"/>
          <p:cNvSpPr/>
          <p:nvPr/>
        </p:nvSpPr>
        <p:spPr>
          <a:xfrm>
            <a:off x="640080" y="1600200"/>
            <a:ext cx="1965960" cy="1371600"/>
          </a:xfrm>
          <a:prstGeom prst="roundRect">
            <a:avLst>
              <a:gd name="adj" fmla="val 6667"/>
            </a:avLst>
          </a:prstGeom>
          <a:solidFill>
            <a:srgbClr val="2B1B10"/>
          </a:solidFill>
          <a:ln w="9525">
            <a:solidFill>
              <a:srgbClr val="C9A24B"/>
            </a:solidFill>
            <a:prstDash val="solid"/>
          </a:ln>
        </p:spPr>
      </p:sp>
      <p:sp>
        <p:nvSpPr>
          <p:cNvPr id="5" name="Shape 3"/>
          <p:cNvSpPr/>
          <p:nvPr/>
        </p:nvSpPr>
        <p:spPr>
          <a:xfrm>
            <a:off x="1440180" y="1737360"/>
            <a:ext cx="365760" cy="365760"/>
          </a:xfrm>
          <a:prstGeom prst="ellipse">
            <a:avLst/>
          </a:prstGeom>
          <a:solidFill>
            <a:srgbClr val="6E3550"/>
          </a:solidFill>
          <a:ln/>
        </p:spPr>
      </p:sp>
      <p:sp>
        <p:nvSpPr>
          <p:cNvPr id="6" name="Text 4"/>
          <p:cNvSpPr/>
          <p:nvPr/>
        </p:nvSpPr>
        <p:spPr>
          <a:xfrm>
            <a:off x="1440180" y="1737360"/>
            <a:ext cx="365760" cy="365760"/>
          </a:xfrm>
          <a:prstGeom prst="rect">
            <a:avLst/>
          </a:prstGeom>
          <a:noFill/>
          <a:ln/>
        </p:spPr>
        <p:txBody>
          <a:bodyPr wrap="square" rtlCol="0" anchor="ctr"/>
          <a:lstStyle/>
          <a:p>
            <a:pPr algn="ctr" indent="0" marL="0">
              <a:buNone/>
            </a:pPr>
            <a:r>
              <a:rPr lang="en-US" sz="1200" b="1" dirty="0">
                <a:solidFill>
                  <a:srgbClr val="F7F1E4"/>
                </a:solidFill>
                <a:latin typeface="Calibri" pitchFamily="34" charset="0"/>
                <a:ea typeface="Calibri" pitchFamily="34" charset="-122"/>
                <a:cs typeface="Calibri" pitchFamily="34" charset="-120"/>
              </a:rPr>
              <a:t>1</a:t>
            </a:r>
            <a:endParaRPr lang="en-US" sz="1200" dirty="0"/>
          </a:p>
        </p:txBody>
      </p:sp>
      <p:sp>
        <p:nvSpPr>
          <p:cNvPr id="7" name="Text 5"/>
          <p:cNvSpPr/>
          <p:nvPr/>
        </p:nvSpPr>
        <p:spPr>
          <a:xfrm>
            <a:off x="713232" y="2148840"/>
            <a:ext cx="1819656" cy="292608"/>
          </a:xfrm>
          <a:prstGeom prst="rect">
            <a:avLst/>
          </a:prstGeom>
          <a:noFill/>
          <a:ln/>
        </p:spPr>
        <p:txBody>
          <a:bodyPr wrap="square" rtlCol="0" anchor="ctr"/>
          <a:lstStyle/>
          <a:p>
            <a:pPr algn="ctr" indent="0" marL="0">
              <a:buNone/>
            </a:pPr>
            <a:r>
              <a:rPr lang="en-US" sz="1350" b="1" dirty="0">
                <a:solidFill>
                  <a:srgbClr val="E4C77A"/>
                </a:solidFill>
                <a:latin typeface="Cambria" pitchFamily="34" charset="0"/>
                <a:ea typeface="Cambria" pitchFamily="34" charset="-122"/>
                <a:cs typeface="Cambria" pitchFamily="34" charset="-120"/>
              </a:rPr>
              <a:t>Éfeso</a:t>
            </a:r>
            <a:endParaRPr lang="en-US" sz="1350" dirty="0"/>
          </a:p>
        </p:txBody>
      </p:sp>
      <p:sp>
        <p:nvSpPr>
          <p:cNvPr id="8" name="Text 6"/>
          <p:cNvSpPr/>
          <p:nvPr/>
        </p:nvSpPr>
        <p:spPr>
          <a:xfrm>
            <a:off x="713232" y="2441448"/>
            <a:ext cx="1819656" cy="457200"/>
          </a:xfrm>
          <a:prstGeom prst="rect">
            <a:avLst/>
          </a:prstGeom>
          <a:noFill/>
          <a:ln/>
        </p:spPr>
        <p:txBody>
          <a:bodyPr wrap="square" rtlCol="0" anchor="ctr"/>
          <a:lstStyle/>
          <a:p>
            <a:pPr algn="ctr" indent="0" marL="0">
              <a:buNone/>
            </a:pPr>
            <a:r>
              <a:rPr lang="en-US" sz="850" i="1" dirty="0">
                <a:solidFill>
                  <a:srgbClr val="F7F1E4"/>
                </a:solidFill>
                <a:latin typeface="Calibri" pitchFamily="34" charset="0"/>
                <a:ea typeface="Calibri" pitchFamily="34" charset="-122"/>
                <a:cs typeface="Calibri" pitchFamily="34" charset="-120"/>
              </a:rPr>
              <a:t>Dejó su primer amor</a:t>
            </a:r>
            <a:endParaRPr lang="en-US" sz="850" dirty="0"/>
          </a:p>
        </p:txBody>
      </p:sp>
      <p:sp>
        <p:nvSpPr>
          <p:cNvPr id="9" name="Shape 7"/>
          <p:cNvSpPr/>
          <p:nvPr/>
        </p:nvSpPr>
        <p:spPr>
          <a:xfrm>
            <a:off x="2752344" y="1600200"/>
            <a:ext cx="1965960" cy="1371600"/>
          </a:xfrm>
          <a:prstGeom prst="roundRect">
            <a:avLst>
              <a:gd name="adj" fmla="val 6667"/>
            </a:avLst>
          </a:prstGeom>
          <a:solidFill>
            <a:srgbClr val="2B1B10"/>
          </a:solidFill>
          <a:ln w="9525">
            <a:solidFill>
              <a:srgbClr val="C9A24B"/>
            </a:solidFill>
            <a:prstDash val="solid"/>
          </a:ln>
        </p:spPr>
      </p:sp>
      <p:sp>
        <p:nvSpPr>
          <p:cNvPr id="10" name="Shape 8"/>
          <p:cNvSpPr/>
          <p:nvPr/>
        </p:nvSpPr>
        <p:spPr>
          <a:xfrm>
            <a:off x="3552444" y="1737360"/>
            <a:ext cx="365760" cy="365760"/>
          </a:xfrm>
          <a:prstGeom prst="ellipse">
            <a:avLst/>
          </a:prstGeom>
          <a:solidFill>
            <a:srgbClr val="6E3550"/>
          </a:solidFill>
          <a:ln/>
        </p:spPr>
      </p:sp>
      <p:sp>
        <p:nvSpPr>
          <p:cNvPr id="11" name="Text 9"/>
          <p:cNvSpPr/>
          <p:nvPr/>
        </p:nvSpPr>
        <p:spPr>
          <a:xfrm>
            <a:off x="3552444" y="1737360"/>
            <a:ext cx="365760" cy="365760"/>
          </a:xfrm>
          <a:prstGeom prst="rect">
            <a:avLst/>
          </a:prstGeom>
          <a:noFill/>
          <a:ln/>
        </p:spPr>
        <p:txBody>
          <a:bodyPr wrap="square" rtlCol="0" anchor="ctr"/>
          <a:lstStyle/>
          <a:p>
            <a:pPr algn="ctr" indent="0" marL="0">
              <a:buNone/>
            </a:pPr>
            <a:r>
              <a:rPr lang="en-US" sz="1200" b="1" dirty="0">
                <a:solidFill>
                  <a:srgbClr val="F7F1E4"/>
                </a:solidFill>
                <a:latin typeface="Calibri" pitchFamily="34" charset="0"/>
                <a:ea typeface="Calibri" pitchFamily="34" charset="-122"/>
                <a:cs typeface="Calibri" pitchFamily="34" charset="-120"/>
              </a:rPr>
              <a:t>2</a:t>
            </a:r>
            <a:endParaRPr lang="en-US" sz="1200" dirty="0"/>
          </a:p>
        </p:txBody>
      </p:sp>
      <p:sp>
        <p:nvSpPr>
          <p:cNvPr id="12" name="Text 10"/>
          <p:cNvSpPr/>
          <p:nvPr/>
        </p:nvSpPr>
        <p:spPr>
          <a:xfrm>
            <a:off x="2825496" y="2148840"/>
            <a:ext cx="1819656" cy="292608"/>
          </a:xfrm>
          <a:prstGeom prst="rect">
            <a:avLst/>
          </a:prstGeom>
          <a:noFill/>
          <a:ln/>
        </p:spPr>
        <p:txBody>
          <a:bodyPr wrap="square" rtlCol="0" anchor="ctr"/>
          <a:lstStyle/>
          <a:p>
            <a:pPr algn="ctr" indent="0" marL="0">
              <a:buNone/>
            </a:pPr>
            <a:r>
              <a:rPr lang="en-US" sz="1350" b="1" dirty="0">
                <a:solidFill>
                  <a:srgbClr val="E4C77A"/>
                </a:solidFill>
                <a:latin typeface="Cambria" pitchFamily="34" charset="0"/>
                <a:ea typeface="Cambria" pitchFamily="34" charset="-122"/>
                <a:cs typeface="Cambria" pitchFamily="34" charset="-120"/>
              </a:rPr>
              <a:t>Esmirna</a:t>
            </a:r>
            <a:endParaRPr lang="en-US" sz="1350" dirty="0"/>
          </a:p>
        </p:txBody>
      </p:sp>
      <p:sp>
        <p:nvSpPr>
          <p:cNvPr id="13" name="Text 11"/>
          <p:cNvSpPr/>
          <p:nvPr/>
        </p:nvSpPr>
        <p:spPr>
          <a:xfrm>
            <a:off x="2825496" y="2441448"/>
            <a:ext cx="1819656" cy="457200"/>
          </a:xfrm>
          <a:prstGeom prst="rect">
            <a:avLst/>
          </a:prstGeom>
          <a:noFill/>
          <a:ln/>
        </p:spPr>
        <p:txBody>
          <a:bodyPr wrap="square" rtlCol="0" anchor="ctr"/>
          <a:lstStyle/>
          <a:p>
            <a:pPr algn="ctr" indent="0" marL="0">
              <a:buNone/>
            </a:pPr>
            <a:r>
              <a:rPr lang="en-US" sz="850" i="1" dirty="0">
                <a:solidFill>
                  <a:srgbClr val="F7F1E4"/>
                </a:solidFill>
                <a:latin typeface="Calibri" pitchFamily="34" charset="0"/>
                <a:ea typeface="Calibri" pitchFamily="34" charset="-122"/>
                <a:cs typeface="Calibri" pitchFamily="34" charset="-120"/>
              </a:rPr>
              <a:t>Sé fiel hasta la muerte</a:t>
            </a:r>
            <a:endParaRPr lang="en-US" sz="850" dirty="0"/>
          </a:p>
        </p:txBody>
      </p:sp>
      <p:sp>
        <p:nvSpPr>
          <p:cNvPr id="14" name="Shape 12"/>
          <p:cNvSpPr/>
          <p:nvPr/>
        </p:nvSpPr>
        <p:spPr>
          <a:xfrm>
            <a:off x="4864608" y="1600200"/>
            <a:ext cx="1965960" cy="1371600"/>
          </a:xfrm>
          <a:prstGeom prst="roundRect">
            <a:avLst>
              <a:gd name="adj" fmla="val 6667"/>
            </a:avLst>
          </a:prstGeom>
          <a:solidFill>
            <a:srgbClr val="2B1B10"/>
          </a:solidFill>
          <a:ln w="9525">
            <a:solidFill>
              <a:srgbClr val="C9A24B"/>
            </a:solidFill>
            <a:prstDash val="solid"/>
          </a:ln>
        </p:spPr>
      </p:sp>
      <p:sp>
        <p:nvSpPr>
          <p:cNvPr id="15" name="Shape 13"/>
          <p:cNvSpPr/>
          <p:nvPr/>
        </p:nvSpPr>
        <p:spPr>
          <a:xfrm>
            <a:off x="5664708" y="1737360"/>
            <a:ext cx="365760" cy="365760"/>
          </a:xfrm>
          <a:prstGeom prst="ellipse">
            <a:avLst/>
          </a:prstGeom>
          <a:solidFill>
            <a:srgbClr val="6E3550"/>
          </a:solidFill>
          <a:ln/>
        </p:spPr>
      </p:sp>
      <p:sp>
        <p:nvSpPr>
          <p:cNvPr id="16" name="Text 14"/>
          <p:cNvSpPr/>
          <p:nvPr/>
        </p:nvSpPr>
        <p:spPr>
          <a:xfrm>
            <a:off x="5664708" y="1737360"/>
            <a:ext cx="365760" cy="365760"/>
          </a:xfrm>
          <a:prstGeom prst="rect">
            <a:avLst/>
          </a:prstGeom>
          <a:noFill/>
          <a:ln/>
        </p:spPr>
        <p:txBody>
          <a:bodyPr wrap="square" rtlCol="0" anchor="ctr"/>
          <a:lstStyle/>
          <a:p>
            <a:pPr algn="ctr" indent="0" marL="0">
              <a:buNone/>
            </a:pPr>
            <a:r>
              <a:rPr lang="en-US" sz="1200" b="1" dirty="0">
                <a:solidFill>
                  <a:srgbClr val="F7F1E4"/>
                </a:solidFill>
                <a:latin typeface="Calibri" pitchFamily="34" charset="0"/>
                <a:ea typeface="Calibri" pitchFamily="34" charset="-122"/>
                <a:cs typeface="Calibri" pitchFamily="34" charset="-120"/>
              </a:rPr>
              <a:t>3</a:t>
            </a:r>
            <a:endParaRPr lang="en-US" sz="1200" dirty="0"/>
          </a:p>
        </p:txBody>
      </p:sp>
      <p:sp>
        <p:nvSpPr>
          <p:cNvPr id="17" name="Text 15"/>
          <p:cNvSpPr/>
          <p:nvPr/>
        </p:nvSpPr>
        <p:spPr>
          <a:xfrm>
            <a:off x="4937760" y="2148840"/>
            <a:ext cx="1819656" cy="292608"/>
          </a:xfrm>
          <a:prstGeom prst="rect">
            <a:avLst/>
          </a:prstGeom>
          <a:noFill/>
          <a:ln/>
        </p:spPr>
        <p:txBody>
          <a:bodyPr wrap="square" rtlCol="0" anchor="ctr"/>
          <a:lstStyle/>
          <a:p>
            <a:pPr algn="ctr" indent="0" marL="0">
              <a:buNone/>
            </a:pPr>
            <a:r>
              <a:rPr lang="en-US" sz="1350" b="1" dirty="0">
                <a:solidFill>
                  <a:srgbClr val="E4C77A"/>
                </a:solidFill>
                <a:latin typeface="Cambria" pitchFamily="34" charset="0"/>
                <a:ea typeface="Cambria" pitchFamily="34" charset="-122"/>
                <a:cs typeface="Cambria" pitchFamily="34" charset="-120"/>
              </a:rPr>
              <a:t>Pérgamo</a:t>
            </a:r>
            <a:endParaRPr lang="en-US" sz="1350" dirty="0"/>
          </a:p>
        </p:txBody>
      </p:sp>
      <p:sp>
        <p:nvSpPr>
          <p:cNvPr id="18" name="Text 16"/>
          <p:cNvSpPr/>
          <p:nvPr/>
        </p:nvSpPr>
        <p:spPr>
          <a:xfrm>
            <a:off x="4937760" y="2441448"/>
            <a:ext cx="1819656" cy="457200"/>
          </a:xfrm>
          <a:prstGeom prst="rect">
            <a:avLst/>
          </a:prstGeom>
          <a:noFill/>
          <a:ln/>
        </p:spPr>
        <p:txBody>
          <a:bodyPr wrap="square" rtlCol="0" anchor="ctr"/>
          <a:lstStyle/>
          <a:p>
            <a:pPr algn="ctr" indent="0" marL="0">
              <a:buNone/>
            </a:pPr>
            <a:r>
              <a:rPr lang="en-US" sz="850" i="1" dirty="0">
                <a:solidFill>
                  <a:srgbClr val="F7F1E4"/>
                </a:solidFill>
                <a:latin typeface="Calibri" pitchFamily="34" charset="0"/>
                <a:ea typeface="Calibri" pitchFamily="34" charset="-122"/>
                <a:cs typeface="Calibri" pitchFamily="34" charset="-120"/>
              </a:rPr>
              <a:t>Vive en medio de la prueba</a:t>
            </a:r>
            <a:endParaRPr lang="en-US" sz="850" dirty="0"/>
          </a:p>
        </p:txBody>
      </p:sp>
      <p:sp>
        <p:nvSpPr>
          <p:cNvPr id="19" name="Shape 17"/>
          <p:cNvSpPr/>
          <p:nvPr/>
        </p:nvSpPr>
        <p:spPr>
          <a:xfrm>
            <a:off x="6976872" y="1600200"/>
            <a:ext cx="1965960" cy="1371600"/>
          </a:xfrm>
          <a:prstGeom prst="roundRect">
            <a:avLst>
              <a:gd name="adj" fmla="val 6667"/>
            </a:avLst>
          </a:prstGeom>
          <a:solidFill>
            <a:srgbClr val="2B1B10"/>
          </a:solidFill>
          <a:ln w="9525">
            <a:solidFill>
              <a:srgbClr val="C9A24B"/>
            </a:solidFill>
            <a:prstDash val="solid"/>
          </a:ln>
        </p:spPr>
      </p:sp>
      <p:sp>
        <p:nvSpPr>
          <p:cNvPr id="20" name="Shape 18"/>
          <p:cNvSpPr/>
          <p:nvPr/>
        </p:nvSpPr>
        <p:spPr>
          <a:xfrm>
            <a:off x="7776972" y="1737360"/>
            <a:ext cx="365760" cy="365760"/>
          </a:xfrm>
          <a:prstGeom prst="ellipse">
            <a:avLst/>
          </a:prstGeom>
          <a:solidFill>
            <a:srgbClr val="6E3550"/>
          </a:solidFill>
          <a:ln/>
        </p:spPr>
      </p:sp>
      <p:sp>
        <p:nvSpPr>
          <p:cNvPr id="21" name="Text 19"/>
          <p:cNvSpPr/>
          <p:nvPr/>
        </p:nvSpPr>
        <p:spPr>
          <a:xfrm>
            <a:off x="7776972" y="1737360"/>
            <a:ext cx="365760" cy="365760"/>
          </a:xfrm>
          <a:prstGeom prst="rect">
            <a:avLst/>
          </a:prstGeom>
          <a:noFill/>
          <a:ln/>
        </p:spPr>
        <p:txBody>
          <a:bodyPr wrap="square" rtlCol="0" anchor="ctr"/>
          <a:lstStyle/>
          <a:p>
            <a:pPr algn="ctr" indent="0" marL="0">
              <a:buNone/>
            </a:pPr>
            <a:r>
              <a:rPr lang="en-US" sz="1200" b="1" dirty="0">
                <a:solidFill>
                  <a:srgbClr val="F7F1E4"/>
                </a:solidFill>
                <a:latin typeface="Calibri" pitchFamily="34" charset="0"/>
                <a:ea typeface="Calibri" pitchFamily="34" charset="-122"/>
                <a:cs typeface="Calibri" pitchFamily="34" charset="-120"/>
              </a:rPr>
              <a:t>4</a:t>
            </a:r>
            <a:endParaRPr lang="en-US" sz="1200" dirty="0"/>
          </a:p>
        </p:txBody>
      </p:sp>
      <p:sp>
        <p:nvSpPr>
          <p:cNvPr id="22" name="Text 20"/>
          <p:cNvSpPr/>
          <p:nvPr/>
        </p:nvSpPr>
        <p:spPr>
          <a:xfrm>
            <a:off x="7050024" y="2148840"/>
            <a:ext cx="1819656" cy="292608"/>
          </a:xfrm>
          <a:prstGeom prst="rect">
            <a:avLst/>
          </a:prstGeom>
          <a:noFill/>
          <a:ln/>
        </p:spPr>
        <p:txBody>
          <a:bodyPr wrap="square" rtlCol="0" anchor="ctr"/>
          <a:lstStyle/>
          <a:p>
            <a:pPr algn="ctr" indent="0" marL="0">
              <a:buNone/>
            </a:pPr>
            <a:r>
              <a:rPr lang="en-US" sz="1350" b="1" dirty="0">
                <a:solidFill>
                  <a:srgbClr val="E4C77A"/>
                </a:solidFill>
                <a:latin typeface="Cambria" pitchFamily="34" charset="0"/>
                <a:ea typeface="Cambria" pitchFamily="34" charset="-122"/>
                <a:cs typeface="Cambria" pitchFamily="34" charset="-120"/>
              </a:rPr>
              <a:t>Tiatira</a:t>
            </a:r>
            <a:endParaRPr lang="en-US" sz="1350" dirty="0"/>
          </a:p>
        </p:txBody>
      </p:sp>
      <p:sp>
        <p:nvSpPr>
          <p:cNvPr id="23" name="Text 21"/>
          <p:cNvSpPr/>
          <p:nvPr/>
        </p:nvSpPr>
        <p:spPr>
          <a:xfrm>
            <a:off x="7050024" y="2441448"/>
            <a:ext cx="1819656" cy="457200"/>
          </a:xfrm>
          <a:prstGeom prst="rect">
            <a:avLst/>
          </a:prstGeom>
          <a:noFill/>
          <a:ln/>
        </p:spPr>
        <p:txBody>
          <a:bodyPr wrap="square" rtlCol="0" anchor="ctr"/>
          <a:lstStyle/>
          <a:p>
            <a:pPr algn="ctr" indent="0" marL="0">
              <a:buNone/>
            </a:pPr>
            <a:r>
              <a:rPr lang="en-US" sz="850" i="1" dirty="0">
                <a:solidFill>
                  <a:srgbClr val="F7F1E4"/>
                </a:solidFill>
                <a:latin typeface="Calibri" pitchFamily="34" charset="0"/>
                <a:ea typeface="Calibri" pitchFamily="34" charset="-122"/>
                <a:cs typeface="Calibri" pitchFamily="34" charset="-120"/>
              </a:rPr>
              <a:t>Cuidado con la tolerancia</a:t>
            </a:r>
            <a:endParaRPr lang="en-US" sz="850" dirty="0"/>
          </a:p>
        </p:txBody>
      </p:sp>
      <p:sp>
        <p:nvSpPr>
          <p:cNvPr id="24" name="Shape 22"/>
          <p:cNvSpPr/>
          <p:nvPr/>
        </p:nvSpPr>
        <p:spPr>
          <a:xfrm>
            <a:off x="640080" y="3154680"/>
            <a:ext cx="1965960" cy="1371600"/>
          </a:xfrm>
          <a:prstGeom prst="roundRect">
            <a:avLst>
              <a:gd name="adj" fmla="val 6667"/>
            </a:avLst>
          </a:prstGeom>
          <a:solidFill>
            <a:srgbClr val="2B1B10"/>
          </a:solidFill>
          <a:ln w="9525">
            <a:solidFill>
              <a:srgbClr val="C9A24B"/>
            </a:solidFill>
            <a:prstDash val="solid"/>
          </a:ln>
        </p:spPr>
      </p:sp>
      <p:sp>
        <p:nvSpPr>
          <p:cNvPr id="25" name="Shape 23"/>
          <p:cNvSpPr/>
          <p:nvPr/>
        </p:nvSpPr>
        <p:spPr>
          <a:xfrm>
            <a:off x="1440180" y="3291840"/>
            <a:ext cx="365760" cy="365760"/>
          </a:xfrm>
          <a:prstGeom prst="ellipse">
            <a:avLst/>
          </a:prstGeom>
          <a:solidFill>
            <a:srgbClr val="C0704F"/>
          </a:solidFill>
          <a:ln/>
        </p:spPr>
      </p:sp>
      <p:sp>
        <p:nvSpPr>
          <p:cNvPr id="26" name="Text 24"/>
          <p:cNvSpPr/>
          <p:nvPr/>
        </p:nvSpPr>
        <p:spPr>
          <a:xfrm>
            <a:off x="1440180" y="3291840"/>
            <a:ext cx="365760" cy="365760"/>
          </a:xfrm>
          <a:prstGeom prst="rect">
            <a:avLst/>
          </a:prstGeom>
          <a:noFill/>
          <a:ln/>
        </p:spPr>
        <p:txBody>
          <a:bodyPr wrap="square" rtlCol="0" anchor="ctr"/>
          <a:lstStyle/>
          <a:p>
            <a:pPr algn="ctr" indent="0" marL="0">
              <a:buNone/>
            </a:pPr>
            <a:r>
              <a:rPr lang="en-US" sz="1200" b="1" dirty="0">
                <a:solidFill>
                  <a:srgbClr val="F7F1E4"/>
                </a:solidFill>
                <a:latin typeface="Calibri" pitchFamily="34" charset="0"/>
                <a:ea typeface="Calibri" pitchFamily="34" charset="-122"/>
                <a:cs typeface="Calibri" pitchFamily="34" charset="-120"/>
              </a:rPr>
              <a:t>5</a:t>
            </a:r>
            <a:endParaRPr lang="en-US" sz="1200" dirty="0"/>
          </a:p>
        </p:txBody>
      </p:sp>
      <p:sp>
        <p:nvSpPr>
          <p:cNvPr id="27" name="Text 25"/>
          <p:cNvSpPr/>
          <p:nvPr/>
        </p:nvSpPr>
        <p:spPr>
          <a:xfrm>
            <a:off x="713232" y="3703320"/>
            <a:ext cx="1819656" cy="292608"/>
          </a:xfrm>
          <a:prstGeom prst="rect">
            <a:avLst/>
          </a:prstGeom>
          <a:noFill/>
          <a:ln/>
        </p:spPr>
        <p:txBody>
          <a:bodyPr wrap="square" rtlCol="0" anchor="ctr"/>
          <a:lstStyle/>
          <a:p>
            <a:pPr algn="ctr" indent="0" marL="0">
              <a:buNone/>
            </a:pPr>
            <a:r>
              <a:rPr lang="en-US" sz="1350" b="1" dirty="0">
                <a:solidFill>
                  <a:srgbClr val="E4C77A"/>
                </a:solidFill>
                <a:latin typeface="Cambria" pitchFamily="34" charset="0"/>
                <a:ea typeface="Cambria" pitchFamily="34" charset="-122"/>
                <a:cs typeface="Cambria" pitchFamily="34" charset="-120"/>
              </a:rPr>
              <a:t>Sardis</a:t>
            </a:r>
            <a:endParaRPr lang="en-US" sz="1350" dirty="0"/>
          </a:p>
        </p:txBody>
      </p:sp>
      <p:sp>
        <p:nvSpPr>
          <p:cNvPr id="28" name="Text 26"/>
          <p:cNvSpPr/>
          <p:nvPr/>
        </p:nvSpPr>
        <p:spPr>
          <a:xfrm>
            <a:off x="713232" y="3995928"/>
            <a:ext cx="1819656" cy="457200"/>
          </a:xfrm>
          <a:prstGeom prst="rect">
            <a:avLst/>
          </a:prstGeom>
          <a:noFill/>
          <a:ln/>
        </p:spPr>
        <p:txBody>
          <a:bodyPr wrap="square" rtlCol="0" anchor="ctr"/>
          <a:lstStyle/>
          <a:p>
            <a:pPr algn="ctr" indent="0" marL="0">
              <a:buNone/>
            </a:pPr>
            <a:r>
              <a:rPr lang="en-US" sz="850" i="1" dirty="0">
                <a:solidFill>
                  <a:srgbClr val="F7F1E4"/>
                </a:solidFill>
                <a:latin typeface="Calibri" pitchFamily="34" charset="0"/>
                <a:ea typeface="Calibri" pitchFamily="34" charset="-122"/>
                <a:cs typeface="Calibri" pitchFamily="34" charset="-120"/>
              </a:rPr>
              <a:t>Despierta, pareces muerta</a:t>
            </a:r>
            <a:endParaRPr lang="en-US" sz="850" dirty="0"/>
          </a:p>
        </p:txBody>
      </p:sp>
      <p:sp>
        <p:nvSpPr>
          <p:cNvPr id="29" name="Shape 27"/>
          <p:cNvSpPr/>
          <p:nvPr/>
        </p:nvSpPr>
        <p:spPr>
          <a:xfrm>
            <a:off x="2752344" y="3154680"/>
            <a:ext cx="1965960" cy="1371600"/>
          </a:xfrm>
          <a:prstGeom prst="roundRect">
            <a:avLst>
              <a:gd name="adj" fmla="val 6667"/>
            </a:avLst>
          </a:prstGeom>
          <a:solidFill>
            <a:srgbClr val="2B1B10"/>
          </a:solidFill>
          <a:ln w="9525">
            <a:solidFill>
              <a:srgbClr val="C9A24B"/>
            </a:solidFill>
            <a:prstDash val="solid"/>
          </a:ln>
        </p:spPr>
      </p:sp>
      <p:sp>
        <p:nvSpPr>
          <p:cNvPr id="30" name="Shape 28"/>
          <p:cNvSpPr/>
          <p:nvPr/>
        </p:nvSpPr>
        <p:spPr>
          <a:xfrm>
            <a:off x="3552444" y="3291840"/>
            <a:ext cx="365760" cy="365760"/>
          </a:xfrm>
          <a:prstGeom prst="ellipse">
            <a:avLst/>
          </a:prstGeom>
          <a:solidFill>
            <a:srgbClr val="C0704F"/>
          </a:solidFill>
          <a:ln/>
        </p:spPr>
      </p:sp>
      <p:sp>
        <p:nvSpPr>
          <p:cNvPr id="31" name="Text 29"/>
          <p:cNvSpPr/>
          <p:nvPr/>
        </p:nvSpPr>
        <p:spPr>
          <a:xfrm>
            <a:off x="3552444" y="3291840"/>
            <a:ext cx="365760" cy="365760"/>
          </a:xfrm>
          <a:prstGeom prst="rect">
            <a:avLst/>
          </a:prstGeom>
          <a:noFill/>
          <a:ln/>
        </p:spPr>
        <p:txBody>
          <a:bodyPr wrap="square" rtlCol="0" anchor="ctr"/>
          <a:lstStyle/>
          <a:p>
            <a:pPr algn="ctr" indent="0" marL="0">
              <a:buNone/>
            </a:pPr>
            <a:r>
              <a:rPr lang="en-US" sz="1200" b="1" dirty="0">
                <a:solidFill>
                  <a:srgbClr val="F7F1E4"/>
                </a:solidFill>
                <a:latin typeface="Calibri" pitchFamily="34" charset="0"/>
                <a:ea typeface="Calibri" pitchFamily="34" charset="-122"/>
                <a:cs typeface="Calibri" pitchFamily="34" charset="-120"/>
              </a:rPr>
              <a:t>6</a:t>
            </a:r>
            <a:endParaRPr lang="en-US" sz="1200" dirty="0"/>
          </a:p>
        </p:txBody>
      </p:sp>
      <p:sp>
        <p:nvSpPr>
          <p:cNvPr id="32" name="Text 30"/>
          <p:cNvSpPr/>
          <p:nvPr/>
        </p:nvSpPr>
        <p:spPr>
          <a:xfrm>
            <a:off x="2825496" y="3703320"/>
            <a:ext cx="1819656" cy="292608"/>
          </a:xfrm>
          <a:prstGeom prst="rect">
            <a:avLst/>
          </a:prstGeom>
          <a:noFill/>
          <a:ln/>
        </p:spPr>
        <p:txBody>
          <a:bodyPr wrap="square" rtlCol="0" anchor="ctr"/>
          <a:lstStyle/>
          <a:p>
            <a:pPr algn="ctr" indent="0" marL="0">
              <a:buNone/>
            </a:pPr>
            <a:r>
              <a:rPr lang="en-US" sz="1350" b="1" dirty="0">
                <a:solidFill>
                  <a:srgbClr val="E4C77A"/>
                </a:solidFill>
                <a:latin typeface="Cambria" pitchFamily="34" charset="0"/>
                <a:ea typeface="Cambria" pitchFamily="34" charset="-122"/>
                <a:cs typeface="Cambria" pitchFamily="34" charset="-120"/>
              </a:rPr>
              <a:t>Filadelfia</a:t>
            </a:r>
            <a:endParaRPr lang="en-US" sz="1350" dirty="0"/>
          </a:p>
        </p:txBody>
      </p:sp>
      <p:sp>
        <p:nvSpPr>
          <p:cNvPr id="33" name="Text 31"/>
          <p:cNvSpPr/>
          <p:nvPr/>
        </p:nvSpPr>
        <p:spPr>
          <a:xfrm>
            <a:off x="2825496" y="3995928"/>
            <a:ext cx="1819656" cy="457200"/>
          </a:xfrm>
          <a:prstGeom prst="rect">
            <a:avLst/>
          </a:prstGeom>
          <a:noFill/>
          <a:ln/>
        </p:spPr>
        <p:txBody>
          <a:bodyPr wrap="square" rtlCol="0" anchor="ctr"/>
          <a:lstStyle/>
          <a:p>
            <a:pPr algn="ctr" indent="0" marL="0">
              <a:buNone/>
            </a:pPr>
            <a:r>
              <a:rPr lang="en-US" sz="850" i="1" dirty="0">
                <a:solidFill>
                  <a:srgbClr val="F7F1E4"/>
                </a:solidFill>
                <a:latin typeface="Calibri" pitchFamily="34" charset="0"/>
                <a:ea typeface="Calibri" pitchFamily="34" charset="-122"/>
                <a:cs typeface="Calibri" pitchFamily="34" charset="-120"/>
              </a:rPr>
              <a:t>Puerta abierta que nadie cierra</a:t>
            </a:r>
            <a:endParaRPr lang="en-US" sz="850" dirty="0"/>
          </a:p>
        </p:txBody>
      </p:sp>
      <p:sp>
        <p:nvSpPr>
          <p:cNvPr id="34" name="Shape 32"/>
          <p:cNvSpPr/>
          <p:nvPr/>
        </p:nvSpPr>
        <p:spPr>
          <a:xfrm>
            <a:off x="4864608" y="3154680"/>
            <a:ext cx="1965960" cy="1371600"/>
          </a:xfrm>
          <a:prstGeom prst="roundRect">
            <a:avLst>
              <a:gd name="adj" fmla="val 6667"/>
            </a:avLst>
          </a:prstGeom>
          <a:solidFill>
            <a:srgbClr val="2B1B10"/>
          </a:solidFill>
          <a:ln w="9525">
            <a:solidFill>
              <a:srgbClr val="C9A24B"/>
            </a:solidFill>
            <a:prstDash val="solid"/>
          </a:ln>
        </p:spPr>
      </p:sp>
      <p:sp>
        <p:nvSpPr>
          <p:cNvPr id="35" name="Shape 33"/>
          <p:cNvSpPr/>
          <p:nvPr/>
        </p:nvSpPr>
        <p:spPr>
          <a:xfrm>
            <a:off x="5664708" y="3291840"/>
            <a:ext cx="365760" cy="365760"/>
          </a:xfrm>
          <a:prstGeom prst="ellipse">
            <a:avLst/>
          </a:prstGeom>
          <a:solidFill>
            <a:srgbClr val="C0704F"/>
          </a:solidFill>
          <a:ln/>
        </p:spPr>
      </p:sp>
      <p:sp>
        <p:nvSpPr>
          <p:cNvPr id="36" name="Text 34"/>
          <p:cNvSpPr/>
          <p:nvPr/>
        </p:nvSpPr>
        <p:spPr>
          <a:xfrm>
            <a:off x="5664708" y="3291840"/>
            <a:ext cx="365760" cy="365760"/>
          </a:xfrm>
          <a:prstGeom prst="rect">
            <a:avLst/>
          </a:prstGeom>
          <a:noFill/>
          <a:ln/>
        </p:spPr>
        <p:txBody>
          <a:bodyPr wrap="square" rtlCol="0" anchor="ctr"/>
          <a:lstStyle/>
          <a:p>
            <a:pPr algn="ctr" indent="0" marL="0">
              <a:buNone/>
            </a:pPr>
            <a:r>
              <a:rPr lang="en-US" sz="1200" b="1" dirty="0">
                <a:solidFill>
                  <a:srgbClr val="F7F1E4"/>
                </a:solidFill>
                <a:latin typeface="Calibri" pitchFamily="34" charset="0"/>
                <a:ea typeface="Calibri" pitchFamily="34" charset="-122"/>
                <a:cs typeface="Calibri" pitchFamily="34" charset="-120"/>
              </a:rPr>
              <a:t>7</a:t>
            </a:r>
            <a:endParaRPr lang="en-US" sz="1200" dirty="0"/>
          </a:p>
        </p:txBody>
      </p:sp>
      <p:sp>
        <p:nvSpPr>
          <p:cNvPr id="37" name="Text 35"/>
          <p:cNvSpPr/>
          <p:nvPr/>
        </p:nvSpPr>
        <p:spPr>
          <a:xfrm>
            <a:off x="4937760" y="3703320"/>
            <a:ext cx="1819656" cy="292608"/>
          </a:xfrm>
          <a:prstGeom prst="rect">
            <a:avLst/>
          </a:prstGeom>
          <a:noFill/>
          <a:ln/>
        </p:spPr>
        <p:txBody>
          <a:bodyPr wrap="square" rtlCol="0" anchor="ctr"/>
          <a:lstStyle/>
          <a:p>
            <a:pPr algn="ctr" indent="0" marL="0">
              <a:buNone/>
            </a:pPr>
            <a:r>
              <a:rPr lang="en-US" sz="1350" b="1" dirty="0">
                <a:solidFill>
                  <a:srgbClr val="E4C77A"/>
                </a:solidFill>
                <a:latin typeface="Cambria" pitchFamily="34" charset="0"/>
                <a:ea typeface="Cambria" pitchFamily="34" charset="-122"/>
                <a:cs typeface="Cambria" pitchFamily="34" charset="-120"/>
              </a:rPr>
              <a:t>Laodicea</a:t>
            </a:r>
            <a:endParaRPr lang="en-US" sz="1350" dirty="0"/>
          </a:p>
        </p:txBody>
      </p:sp>
      <p:sp>
        <p:nvSpPr>
          <p:cNvPr id="38" name="Text 36"/>
          <p:cNvSpPr/>
          <p:nvPr/>
        </p:nvSpPr>
        <p:spPr>
          <a:xfrm>
            <a:off x="4937760" y="3995928"/>
            <a:ext cx="1819656" cy="457200"/>
          </a:xfrm>
          <a:prstGeom prst="rect">
            <a:avLst/>
          </a:prstGeom>
          <a:noFill/>
          <a:ln/>
        </p:spPr>
        <p:txBody>
          <a:bodyPr wrap="square" rtlCol="0" anchor="ctr"/>
          <a:lstStyle/>
          <a:p>
            <a:pPr algn="ctr" indent="0" marL="0">
              <a:buNone/>
            </a:pPr>
            <a:r>
              <a:rPr lang="en-US" sz="850" i="1" dirty="0">
                <a:solidFill>
                  <a:srgbClr val="F7F1E4"/>
                </a:solidFill>
                <a:latin typeface="Calibri" pitchFamily="34" charset="0"/>
                <a:ea typeface="Calibri" pitchFamily="34" charset="-122"/>
                <a:cs typeface="Calibri" pitchFamily="34" charset="-120"/>
              </a:rPr>
              <a:t>Ni fría ni caliente</a:t>
            </a:r>
            <a:endParaRPr lang="en-US" sz="850" dirty="0"/>
          </a:p>
        </p:txBody>
      </p:sp>
      <p:pic>
        <p:nvPicPr>
          <p:cNvPr id="39" name="Image 0" descr="/home/claude/ronda12_pptx/img/ruinas.jpg">    </p:cNvPr>
          <p:cNvPicPr>
            <a:picLocks noChangeAspect="1"/>
          </p:cNvPicPr>
          <p:nvPr/>
        </p:nvPicPr>
        <p:blipFill>
          <a:blip r:embed="rId1"/>
          <a:stretch>
            <a:fillRect/>
          </a:stretch>
        </p:blipFill>
        <p:spPr>
          <a:xfrm>
            <a:off x="9144000" y="1463040"/>
            <a:ext cx="2514600" cy="2898648"/>
          </a:xfrm>
          <a:prstGeom prst="rect">
            <a:avLst/>
          </a:prstGeom>
        </p:spPr>
      </p:pic>
      <p:sp>
        <p:nvSpPr>
          <p:cNvPr id="40" name="Text 37"/>
          <p:cNvSpPr/>
          <p:nvPr/>
        </p:nvSpPr>
        <p:spPr>
          <a:xfrm>
            <a:off x="9006840" y="4407408"/>
            <a:ext cx="2788920" cy="274320"/>
          </a:xfrm>
          <a:prstGeom prst="rect">
            <a:avLst/>
          </a:prstGeom>
          <a:noFill/>
          <a:ln/>
        </p:spPr>
        <p:txBody>
          <a:bodyPr wrap="square" rtlCol="0" anchor="ctr"/>
          <a:lstStyle/>
          <a:p>
            <a:pPr algn="ctr" indent="0" marL="0">
              <a:buNone/>
            </a:pPr>
            <a:r>
              <a:rPr lang="en-US" sz="800" i="1" dirty="0">
                <a:solidFill>
                  <a:srgbClr val="C9A24B"/>
                </a:solidFill>
                <a:latin typeface="Calibri" pitchFamily="34" charset="0"/>
                <a:ea typeface="Calibri" pitchFamily="34" charset="-122"/>
                <a:cs typeface="Calibri" pitchFamily="34" charset="-120"/>
              </a:rPr>
              <a:t>Restos arqueológicos de las siete ciudades ·</a:t>
            </a:r>
            <a:endParaRPr lang="en-US" sz="800" dirty="0"/>
          </a:p>
          <a:p>
            <a:pPr algn="ctr" indent="0" marL="0">
              <a:buNone/>
            </a:pPr>
            <a:r>
              <a:rPr lang="en-US" sz="800" i="1" dirty="0">
                <a:solidFill>
                  <a:srgbClr val="C9A24B"/>
                </a:solidFill>
                <a:latin typeface="Calibri" pitchFamily="34" charset="0"/>
                <a:ea typeface="Calibri" pitchFamily="34" charset="-122"/>
                <a:cs typeface="Calibri" pitchFamily="34" charset="-120"/>
              </a:rPr>
              <a:t>Watch Tower (1988)</a:t>
            </a:r>
            <a:endParaRPr lang="en-US" sz="800" dirty="0"/>
          </a:p>
        </p:txBody>
      </p:sp>
      <p:sp>
        <p:nvSpPr>
          <p:cNvPr id="41" name="Text 38"/>
          <p:cNvSpPr/>
          <p:nvPr/>
        </p:nvSpPr>
        <p:spPr>
          <a:xfrm>
            <a:off x="640080" y="4617720"/>
            <a:ext cx="8138160" cy="640080"/>
          </a:xfrm>
          <a:prstGeom prst="rect">
            <a:avLst/>
          </a:prstGeom>
          <a:noFill/>
          <a:ln/>
        </p:spPr>
        <p:txBody>
          <a:bodyPr wrap="square" rtlCol="0" anchor="ctr"/>
          <a:lstStyle/>
          <a:p>
            <a:pPr indent="0" marL="0">
              <a:buNone/>
            </a:pPr>
            <a:r>
              <a:rPr lang="en-US" sz="1200" i="1" dirty="0">
                <a:solidFill>
                  <a:srgbClr val="E4C77A"/>
                </a:solidFill>
                <a:latin typeface="Calibri" pitchFamily="34" charset="0"/>
                <a:ea typeface="Calibri" pitchFamily="34" charset="-122"/>
                <a:cs typeface="Calibri" pitchFamily="34" charset="-120"/>
              </a:rPr>
              <a:t>Los restos arqueológicos de las siete ciudades siguen en pie hoy y confirman la geografía descrita en el texto bíblico.</a:t>
            </a:r>
            <a:endParaRPr lang="en-US" sz="1200" dirty="0"/>
          </a:p>
        </p:txBody>
      </p:sp>
      <p:sp>
        <p:nvSpPr>
          <p:cNvPr id="42" name="Text 39"/>
          <p:cNvSpPr/>
          <p:nvPr/>
        </p:nvSpPr>
        <p:spPr>
          <a:xfrm>
            <a:off x="457200" y="6473952"/>
            <a:ext cx="10180015" cy="274320"/>
          </a:xfrm>
          <a:prstGeom prst="rect">
            <a:avLst/>
          </a:prstGeom>
          <a:noFill/>
          <a:ln/>
        </p:spPr>
        <p:txBody>
          <a:bodyPr wrap="square" rtlCol="0" anchor="ctr"/>
          <a:lstStyle/>
          <a:p>
            <a:pPr algn="l" indent="0" marL="0">
              <a:buNone/>
            </a:pPr>
            <a:r>
              <a:rPr lang="en-US" sz="900" dirty="0">
                <a:solidFill>
                  <a:srgbClr val="C9A24B"/>
                </a:solidFill>
                <a:latin typeface="Calibri" pitchFamily="34" charset="0"/>
                <a:ea typeface="Calibri" pitchFamily="34" charset="-122"/>
                <a:cs typeface="Calibri" pitchFamily="34" charset="-120"/>
              </a:rPr>
              <a:t>DIBUJA EL CÍRCULO · RONDA 12  |  Apertura Metodológica · 13 de agosto de 2026</a:t>
            </a:r>
            <a:endParaRPr lang="en-US" sz="900" dirty="0"/>
          </a:p>
        </p:txBody>
      </p:sp>
      <p:pic>
        <p:nvPicPr>
          <p:cNvPr id="43" name="Image 1" descr="/home/claude/ronda12_pptx/logo_small.png">    </p:cNvPr>
          <p:cNvPicPr>
            <a:picLocks noChangeAspect="1"/>
          </p:cNvPicPr>
          <p:nvPr/>
        </p:nvPicPr>
        <p:blipFill>
          <a:blip r:embed="rId2"/>
          <a:stretch>
            <a:fillRect/>
          </a:stretch>
        </p:blipFill>
        <p:spPr>
          <a:xfrm>
            <a:off x="11140135" y="6199632"/>
            <a:ext cx="566928" cy="566928"/>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1E4"/>
        </a:solidFill>
      </p:bgPr>
    </p:bg>
    <p:spTree>
      <p:nvGrpSpPr>
        <p:cNvPr id="1" name=""/>
        <p:cNvGrpSpPr/>
        <p:nvPr/>
      </p:nvGrpSpPr>
      <p:grpSpPr>
        <a:xfrm>
          <a:off x="0" y="0"/>
          <a:ext cx="0" cy="0"/>
          <a:chOff x="0" y="0"/>
          <a:chExt cx="0" cy="0"/>
        </a:xfrm>
      </p:grpSpPr>
      <p:sp>
        <p:nvSpPr>
          <p:cNvPr id="2" name="Text 0"/>
          <p:cNvSpPr/>
          <p:nvPr/>
        </p:nvSpPr>
        <p:spPr>
          <a:xfrm>
            <a:off x="548640" y="365760"/>
            <a:ext cx="9144000" cy="548640"/>
          </a:xfrm>
          <a:prstGeom prst="rect">
            <a:avLst/>
          </a:prstGeom>
          <a:noFill/>
          <a:ln/>
        </p:spPr>
        <p:txBody>
          <a:bodyPr wrap="square" rtlCol="0" anchor="ctr"/>
          <a:lstStyle/>
          <a:p>
            <a:pPr indent="0" marL="0">
              <a:buNone/>
            </a:pPr>
            <a:r>
              <a:rPr lang="en-US" sz="2700" b="1" dirty="0">
                <a:solidFill>
                  <a:srgbClr val="6E3550"/>
                </a:solidFill>
                <a:latin typeface="Cambria" pitchFamily="34" charset="0"/>
                <a:ea typeface="Cambria" pitchFamily="34" charset="-122"/>
                <a:cs typeface="Cambria" pitchFamily="34" charset="-120"/>
              </a:rPr>
              <a:t>Números simbólicos en Apocalipsis</a:t>
            </a:r>
            <a:endParaRPr lang="en-US" sz="2700" dirty="0"/>
          </a:p>
        </p:txBody>
      </p:sp>
      <p:sp>
        <p:nvSpPr>
          <p:cNvPr id="3" name="Text 1"/>
          <p:cNvSpPr/>
          <p:nvPr/>
        </p:nvSpPr>
        <p:spPr>
          <a:xfrm>
            <a:off x="548640" y="886968"/>
            <a:ext cx="9144000" cy="365760"/>
          </a:xfrm>
          <a:prstGeom prst="rect">
            <a:avLst/>
          </a:prstGeom>
          <a:noFill/>
          <a:ln/>
        </p:spPr>
        <p:txBody>
          <a:bodyPr wrap="square" rtlCol="0" anchor="ctr"/>
          <a:lstStyle/>
          <a:p>
            <a:pPr indent="0" marL="0">
              <a:buNone/>
            </a:pPr>
            <a:r>
              <a:rPr lang="en-US" sz="1300" i="1" dirty="0">
                <a:solidFill>
                  <a:srgbClr val="C0704F"/>
                </a:solidFill>
                <a:latin typeface="Calibri" pitchFamily="34" charset="0"/>
                <a:ea typeface="Calibri" pitchFamily="34" charset="-122"/>
                <a:cs typeface="Calibri" pitchFamily="34" charset="-120"/>
              </a:rPr>
              <a:t>Significados tradicionales, con raíz en la Torá</a:t>
            </a:r>
            <a:endParaRPr lang="en-US" sz="1300" dirty="0"/>
          </a:p>
        </p:txBody>
      </p:sp>
      <p:sp>
        <p:nvSpPr>
          <p:cNvPr id="4" name="Shape 2"/>
          <p:cNvSpPr/>
          <p:nvPr/>
        </p:nvSpPr>
        <p:spPr>
          <a:xfrm>
            <a:off x="548640" y="1417320"/>
            <a:ext cx="3977640" cy="1325880"/>
          </a:xfrm>
          <a:prstGeom prst="roundRect">
            <a:avLst>
              <a:gd name="adj" fmla="val 6897"/>
            </a:avLst>
          </a:prstGeom>
          <a:solidFill>
            <a:srgbClr val="FFFFFF"/>
          </a:solidFill>
          <a:ln w="12700">
            <a:solidFill>
              <a:srgbClr val="E1D3AE"/>
            </a:solidFill>
            <a:prstDash val="solid"/>
          </a:ln>
        </p:spPr>
      </p:sp>
      <p:sp>
        <p:nvSpPr>
          <p:cNvPr id="5" name="Shape 3"/>
          <p:cNvSpPr/>
          <p:nvPr/>
        </p:nvSpPr>
        <p:spPr>
          <a:xfrm>
            <a:off x="731520" y="1600200"/>
            <a:ext cx="502920" cy="502920"/>
          </a:xfrm>
          <a:prstGeom prst="ellipse">
            <a:avLst/>
          </a:prstGeom>
          <a:solidFill>
            <a:srgbClr val="C9A24B"/>
          </a:solidFill>
          <a:ln/>
        </p:spPr>
      </p:sp>
      <p:sp>
        <p:nvSpPr>
          <p:cNvPr id="6" name="Text 4"/>
          <p:cNvSpPr/>
          <p:nvPr/>
        </p:nvSpPr>
        <p:spPr>
          <a:xfrm>
            <a:off x="731520" y="1600200"/>
            <a:ext cx="502920" cy="502920"/>
          </a:xfrm>
          <a:prstGeom prst="rect">
            <a:avLst/>
          </a:prstGeom>
          <a:noFill/>
          <a:ln/>
        </p:spPr>
        <p:txBody>
          <a:bodyPr wrap="square" rtlCol="0" anchor="ctr"/>
          <a:lstStyle/>
          <a:p>
            <a:pPr algn="ctr" indent="0" marL="0">
              <a:buNone/>
            </a:pPr>
            <a:r>
              <a:rPr lang="en-US" sz="1800" b="1" dirty="0">
                <a:solidFill>
                  <a:srgbClr val="3C2818"/>
                </a:solidFill>
                <a:latin typeface="Cambria" pitchFamily="34" charset="0"/>
                <a:ea typeface="Cambria" pitchFamily="34" charset="-122"/>
                <a:cs typeface="Cambria" pitchFamily="34" charset="-120"/>
              </a:rPr>
              <a:t>7</a:t>
            </a:r>
            <a:endParaRPr lang="en-US" sz="1800" dirty="0"/>
          </a:p>
        </p:txBody>
      </p:sp>
      <p:sp>
        <p:nvSpPr>
          <p:cNvPr id="7" name="Text 5"/>
          <p:cNvSpPr/>
          <p:nvPr/>
        </p:nvSpPr>
        <p:spPr>
          <a:xfrm>
            <a:off x="1371600" y="1563624"/>
            <a:ext cx="2971800" cy="566928"/>
          </a:xfrm>
          <a:prstGeom prst="rect">
            <a:avLst/>
          </a:prstGeom>
          <a:noFill/>
          <a:ln/>
        </p:spPr>
        <p:txBody>
          <a:bodyPr wrap="square" rtlCol="0" anchor="t"/>
          <a:lstStyle/>
          <a:p>
            <a:pPr indent="0" marL="0">
              <a:buNone/>
            </a:pPr>
            <a:r>
              <a:rPr lang="en-US" sz="1100" b="1" dirty="0">
                <a:solidFill>
                  <a:srgbClr val="3C2818"/>
                </a:solidFill>
                <a:latin typeface="Calibri" pitchFamily="34" charset="0"/>
                <a:ea typeface="Calibri" pitchFamily="34" charset="-122"/>
                <a:cs typeface="Calibri" pitchFamily="34" charset="-120"/>
              </a:rPr>
              <a:t>Lo completo por determinación divina.</a:t>
            </a:r>
            <a:endParaRPr lang="en-US" sz="1100" dirty="0"/>
          </a:p>
        </p:txBody>
      </p:sp>
      <p:sp>
        <p:nvSpPr>
          <p:cNvPr id="8" name="Text 6"/>
          <p:cNvSpPr/>
          <p:nvPr/>
        </p:nvSpPr>
        <p:spPr>
          <a:xfrm>
            <a:off x="731520" y="2258568"/>
            <a:ext cx="3611880" cy="502920"/>
          </a:xfrm>
          <a:prstGeom prst="rect">
            <a:avLst/>
          </a:prstGeom>
          <a:noFill/>
          <a:ln/>
        </p:spPr>
        <p:txBody>
          <a:bodyPr wrap="square" rtlCol="0" anchor="ctr"/>
          <a:lstStyle/>
          <a:p>
            <a:pPr indent="0" marL="0">
              <a:buNone/>
            </a:pPr>
            <a:r>
              <a:rPr lang="en-US" sz="900" i="1" dirty="0">
                <a:solidFill>
                  <a:srgbClr val="8A7358"/>
                </a:solidFill>
                <a:latin typeface="Calibri" pitchFamily="34" charset="0"/>
                <a:ea typeface="Calibri" pitchFamily="34" charset="-122"/>
                <a:cs typeface="Calibri" pitchFamily="34" charset="-120"/>
              </a:rPr>
              <a:t>Génesis 2:2–3 (los días de la creación)</a:t>
            </a:r>
            <a:endParaRPr lang="en-US" sz="900" dirty="0"/>
          </a:p>
        </p:txBody>
      </p:sp>
      <p:sp>
        <p:nvSpPr>
          <p:cNvPr id="9" name="Shape 7"/>
          <p:cNvSpPr/>
          <p:nvPr/>
        </p:nvSpPr>
        <p:spPr>
          <a:xfrm>
            <a:off x="4754880" y="1417320"/>
            <a:ext cx="3977640" cy="1325880"/>
          </a:xfrm>
          <a:prstGeom prst="roundRect">
            <a:avLst>
              <a:gd name="adj" fmla="val 6897"/>
            </a:avLst>
          </a:prstGeom>
          <a:solidFill>
            <a:srgbClr val="FFFFFF"/>
          </a:solidFill>
          <a:ln w="12700">
            <a:solidFill>
              <a:srgbClr val="E1D3AE"/>
            </a:solidFill>
            <a:prstDash val="solid"/>
          </a:ln>
        </p:spPr>
      </p:sp>
      <p:sp>
        <p:nvSpPr>
          <p:cNvPr id="10" name="Shape 8"/>
          <p:cNvSpPr/>
          <p:nvPr/>
        </p:nvSpPr>
        <p:spPr>
          <a:xfrm>
            <a:off x="4937760" y="1600200"/>
            <a:ext cx="502920" cy="502920"/>
          </a:xfrm>
          <a:prstGeom prst="ellipse">
            <a:avLst/>
          </a:prstGeom>
          <a:solidFill>
            <a:srgbClr val="C9A24B"/>
          </a:solidFill>
          <a:ln/>
        </p:spPr>
      </p:sp>
      <p:sp>
        <p:nvSpPr>
          <p:cNvPr id="11" name="Text 9"/>
          <p:cNvSpPr/>
          <p:nvPr/>
        </p:nvSpPr>
        <p:spPr>
          <a:xfrm>
            <a:off x="4937760" y="1600200"/>
            <a:ext cx="502920" cy="502920"/>
          </a:xfrm>
          <a:prstGeom prst="rect">
            <a:avLst/>
          </a:prstGeom>
          <a:noFill/>
          <a:ln/>
        </p:spPr>
        <p:txBody>
          <a:bodyPr wrap="square" rtlCol="0" anchor="ctr"/>
          <a:lstStyle/>
          <a:p>
            <a:pPr algn="ctr" indent="0" marL="0">
              <a:buNone/>
            </a:pPr>
            <a:r>
              <a:rPr lang="en-US" sz="1800" b="1" dirty="0">
                <a:solidFill>
                  <a:srgbClr val="3C2818"/>
                </a:solidFill>
                <a:latin typeface="Cambria" pitchFamily="34" charset="0"/>
                <a:ea typeface="Cambria" pitchFamily="34" charset="-122"/>
                <a:cs typeface="Cambria" pitchFamily="34" charset="-120"/>
              </a:rPr>
              <a:t>12</a:t>
            </a:r>
            <a:endParaRPr lang="en-US" sz="1800" dirty="0"/>
          </a:p>
        </p:txBody>
      </p:sp>
      <p:sp>
        <p:nvSpPr>
          <p:cNvPr id="12" name="Text 10"/>
          <p:cNvSpPr/>
          <p:nvPr/>
        </p:nvSpPr>
        <p:spPr>
          <a:xfrm>
            <a:off x="5577840" y="1563624"/>
            <a:ext cx="2971800" cy="566928"/>
          </a:xfrm>
          <a:prstGeom prst="rect">
            <a:avLst/>
          </a:prstGeom>
          <a:noFill/>
          <a:ln/>
        </p:spPr>
        <p:txBody>
          <a:bodyPr wrap="square" rtlCol="0" anchor="t"/>
          <a:lstStyle/>
          <a:p>
            <a:pPr indent="0" marL="0">
              <a:buNone/>
            </a:pPr>
            <a:r>
              <a:rPr lang="en-US" sz="1100" b="1" dirty="0">
                <a:solidFill>
                  <a:srgbClr val="3C2818"/>
                </a:solidFill>
                <a:latin typeface="Calibri" pitchFamily="34" charset="0"/>
                <a:ea typeface="Calibri" pitchFamily="34" charset="-122"/>
                <a:cs typeface="Calibri" pitchFamily="34" charset="-120"/>
              </a:rPr>
              <a:t>Organización constituida divinamente.</a:t>
            </a:r>
            <a:endParaRPr lang="en-US" sz="1100" dirty="0"/>
          </a:p>
        </p:txBody>
      </p:sp>
      <p:sp>
        <p:nvSpPr>
          <p:cNvPr id="13" name="Text 11"/>
          <p:cNvSpPr/>
          <p:nvPr/>
        </p:nvSpPr>
        <p:spPr>
          <a:xfrm>
            <a:off x="4937760" y="2258568"/>
            <a:ext cx="3611880" cy="502920"/>
          </a:xfrm>
          <a:prstGeom prst="rect">
            <a:avLst/>
          </a:prstGeom>
          <a:noFill/>
          <a:ln/>
        </p:spPr>
        <p:txBody>
          <a:bodyPr wrap="square" rtlCol="0" anchor="ctr"/>
          <a:lstStyle/>
          <a:p>
            <a:pPr indent="0" marL="0">
              <a:buNone/>
            </a:pPr>
            <a:r>
              <a:rPr lang="en-US" sz="900" i="1" dirty="0">
                <a:solidFill>
                  <a:srgbClr val="8A7358"/>
                </a:solidFill>
                <a:latin typeface="Calibri" pitchFamily="34" charset="0"/>
                <a:ea typeface="Calibri" pitchFamily="34" charset="-122"/>
                <a:cs typeface="Calibri" pitchFamily="34" charset="-120"/>
              </a:rPr>
              <a:t>Génesis 49 (12 tribus) · Apocalipsis 21:12</a:t>
            </a:r>
            <a:endParaRPr lang="en-US" sz="900" dirty="0"/>
          </a:p>
        </p:txBody>
      </p:sp>
      <p:sp>
        <p:nvSpPr>
          <p:cNvPr id="14" name="Shape 12"/>
          <p:cNvSpPr/>
          <p:nvPr/>
        </p:nvSpPr>
        <p:spPr>
          <a:xfrm>
            <a:off x="548640" y="2926080"/>
            <a:ext cx="3977640" cy="1325880"/>
          </a:xfrm>
          <a:prstGeom prst="roundRect">
            <a:avLst>
              <a:gd name="adj" fmla="val 6897"/>
            </a:avLst>
          </a:prstGeom>
          <a:solidFill>
            <a:srgbClr val="FFFFFF"/>
          </a:solidFill>
          <a:ln w="12700">
            <a:solidFill>
              <a:srgbClr val="E1D3AE"/>
            </a:solidFill>
            <a:prstDash val="solid"/>
          </a:ln>
        </p:spPr>
      </p:sp>
      <p:sp>
        <p:nvSpPr>
          <p:cNvPr id="15" name="Shape 13"/>
          <p:cNvSpPr/>
          <p:nvPr/>
        </p:nvSpPr>
        <p:spPr>
          <a:xfrm>
            <a:off x="731520" y="3108960"/>
            <a:ext cx="502920" cy="502920"/>
          </a:xfrm>
          <a:prstGeom prst="ellipse">
            <a:avLst/>
          </a:prstGeom>
          <a:solidFill>
            <a:srgbClr val="C9A24B"/>
          </a:solidFill>
          <a:ln/>
        </p:spPr>
      </p:sp>
      <p:sp>
        <p:nvSpPr>
          <p:cNvPr id="16" name="Text 14"/>
          <p:cNvSpPr/>
          <p:nvPr/>
        </p:nvSpPr>
        <p:spPr>
          <a:xfrm>
            <a:off x="731520" y="3108960"/>
            <a:ext cx="502920" cy="502920"/>
          </a:xfrm>
          <a:prstGeom prst="rect">
            <a:avLst/>
          </a:prstGeom>
          <a:noFill/>
          <a:ln/>
        </p:spPr>
        <p:txBody>
          <a:bodyPr wrap="square" rtlCol="0" anchor="ctr"/>
          <a:lstStyle/>
          <a:p>
            <a:pPr algn="ctr" indent="0" marL="0">
              <a:buNone/>
            </a:pPr>
            <a:r>
              <a:rPr lang="en-US" sz="1800" b="1" dirty="0">
                <a:solidFill>
                  <a:srgbClr val="3C2818"/>
                </a:solidFill>
                <a:latin typeface="Cambria" pitchFamily="34" charset="0"/>
                <a:ea typeface="Cambria" pitchFamily="34" charset="-122"/>
                <a:cs typeface="Cambria" pitchFamily="34" charset="-120"/>
              </a:rPr>
              <a:t>4</a:t>
            </a:r>
            <a:endParaRPr lang="en-US" sz="1800" dirty="0"/>
          </a:p>
        </p:txBody>
      </p:sp>
      <p:sp>
        <p:nvSpPr>
          <p:cNvPr id="17" name="Text 15"/>
          <p:cNvSpPr/>
          <p:nvPr/>
        </p:nvSpPr>
        <p:spPr>
          <a:xfrm>
            <a:off x="1371600" y="3072384"/>
            <a:ext cx="2971800" cy="566928"/>
          </a:xfrm>
          <a:prstGeom prst="rect">
            <a:avLst/>
          </a:prstGeom>
          <a:noFill/>
          <a:ln/>
        </p:spPr>
        <p:txBody>
          <a:bodyPr wrap="square" rtlCol="0" anchor="t"/>
          <a:lstStyle/>
          <a:p>
            <a:pPr indent="0" marL="0">
              <a:buNone/>
            </a:pPr>
            <a:r>
              <a:rPr lang="en-US" sz="1100" b="1" dirty="0">
                <a:solidFill>
                  <a:srgbClr val="3C2818"/>
                </a:solidFill>
                <a:latin typeface="Calibri" pitchFamily="34" charset="0"/>
                <a:ea typeface="Calibri" pitchFamily="34" charset="-122"/>
                <a:cs typeface="Calibri" pitchFamily="34" charset="-120"/>
              </a:rPr>
              <a:t>Universalidad — algo que se completa en simetría.</a:t>
            </a:r>
            <a:endParaRPr lang="en-US" sz="1100" dirty="0"/>
          </a:p>
        </p:txBody>
      </p:sp>
      <p:sp>
        <p:nvSpPr>
          <p:cNvPr id="18" name="Text 16"/>
          <p:cNvSpPr/>
          <p:nvPr/>
        </p:nvSpPr>
        <p:spPr>
          <a:xfrm>
            <a:off x="731520" y="3767328"/>
            <a:ext cx="3611880" cy="502920"/>
          </a:xfrm>
          <a:prstGeom prst="rect">
            <a:avLst/>
          </a:prstGeom>
          <a:noFill/>
          <a:ln/>
        </p:spPr>
        <p:txBody>
          <a:bodyPr wrap="square" rtlCol="0" anchor="ctr"/>
          <a:lstStyle/>
          <a:p>
            <a:pPr indent="0" marL="0">
              <a:buNone/>
            </a:pPr>
            <a:r>
              <a:rPr lang="en-US" sz="900" i="1" dirty="0">
                <a:solidFill>
                  <a:srgbClr val="8A7358"/>
                </a:solidFill>
                <a:latin typeface="Calibri" pitchFamily="34" charset="0"/>
                <a:ea typeface="Calibri" pitchFamily="34" charset="-122"/>
                <a:cs typeface="Calibri" pitchFamily="34" charset="-120"/>
              </a:rPr>
              <a:t>los cuatro puntos cardinales / vientos</a:t>
            </a:r>
            <a:endParaRPr lang="en-US" sz="900" dirty="0"/>
          </a:p>
        </p:txBody>
      </p:sp>
      <p:sp>
        <p:nvSpPr>
          <p:cNvPr id="19" name="Shape 17"/>
          <p:cNvSpPr/>
          <p:nvPr/>
        </p:nvSpPr>
        <p:spPr>
          <a:xfrm>
            <a:off x="4754880" y="2926080"/>
            <a:ext cx="3977640" cy="1325880"/>
          </a:xfrm>
          <a:prstGeom prst="roundRect">
            <a:avLst>
              <a:gd name="adj" fmla="val 6897"/>
            </a:avLst>
          </a:prstGeom>
          <a:solidFill>
            <a:srgbClr val="FFFFFF"/>
          </a:solidFill>
          <a:ln w="12700">
            <a:solidFill>
              <a:srgbClr val="E1D3AE"/>
            </a:solidFill>
            <a:prstDash val="solid"/>
          </a:ln>
        </p:spPr>
      </p:sp>
      <p:sp>
        <p:nvSpPr>
          <p:cNvPr id="20" name="Shape 18"/>
          <p:cNvSpPr/>
          <p:nvPr/>
        </p:nvSpPr>
        <p:spPr>
          <a:xfrm>
            <a:off x="4937760" y="3108960"/>
            <a:ext cx="502920" cy="502920"/>
          </a:xfrm>
          <a:prstGeom prst="ellipse">
            <a:avLst/>
          </a:prstGeom>
          <a:solidFill>
            <a:srgbClr val="C9A24B"/>
          </a:solidFill>
          <a:ln/>
        </p:spPr>
      </p:sp>
      <p:sp>
        <p:nvSpPr>
          <p:cNvPr id="21" name="Text 19"/>
          <p:cNvSpPr/>
          <p:nvPr/>
        </p:nvSpPr>
        <p:spPr>
          <a:xfrm>
            <a:off x="4937760" y="3108960"/>
            <a:ext cx="502920" cy="502920"/>
          </a:xfrm>
          <a:prstGeom prst="rect">
            <a:avLst/>
          </a:prstGeom>
          <a:noFill/>
          <a:ln/>
        </p:spPr>
        <p:txBody>
          <a:bodyPr wrap="square" rtlCol="0" anchor="ctr"/>
          <a:lstStyle/>
          <a:p>
            <a:pPr algn="ctr" indent="0" marL="0">
              <a:buNone/>
            </a:pPr>
            <a:r>
              <a:rPr lang="en-US" sz="1800" b="1" dirty="0">
                <a:solidFill>
                  <a:srgbClr val="3C2818"/>
                </a:solidFill>
                <a:latin typeface="Cambria" pitchFamily="34" charset="0"/>
                <a:ea typeface="Cambria" pitchFamily="34" charset="-122"/>
                <a:cs typeface="Cambria" pitchFamily="34" charset="-120"/>
              </a:rPr>
              <a:t>3</a:t>
            </a:r>
            <a:endParaRPr lang="en-US" sz="1800" dirty="0"/>
          </a:p>
        </p:txBody>
      </p:sp>
      <p:sp>
        <p:nvSpPr>
          <p:cNvPr id="22" name="Text 20"/>
          <p:cNvSpPr/>
          <p:nvPr/>
        </p:nvSpPr>
        <p:spPr>
          <a:xfrm>
            <a:off x="5577840" y="3072384"/>
            <a:ext cx="2971800" cy="566928"/>
          </a:xfrm>
          <a:prstGeom prst="rect">
            <a:avLst/>
          </a:prstGeom>
          <a:noFill/>
          <a:ln/>
        </p:spPr>
        <p:txBody>
          <a:bodyPr wrap="square" rtlCol="0" anchor="t"/>
          <a:lstStyle/>
          <a:p>
            <a:pPr indent="0" marL="0">
              <a:buNone/>
            </a:pPr>
            <a:r>
              <a:rPr lang="en-US" sz="1100" b="1" dirty="0">
                <a:solidFill>
                  <a:srgbClr val="3C2818"/>
                </a:solidFill>
                <a:latin typeface="Calibri" pitchFamily="34" charset="0"/>
                <a:ea typeface="Calibri" pitchFamily="34" charset="-122"/>
                <a:cs typeface="Calibri" pitchFamily="34" charset="-120"/>
              </a:rPr>
              <a:t>Énfasis, intensidad.</a:t>
            </a:r>
            <a:endParaRPr lang="en-US" sz="1100" dirty="0"/>
          </a:p>
        </p:txBody>
      </p:sp>
      <p:sp>
        <p:nvSpPr>
          <p:cNvPr id="23" name="Text 21"/>
          <p:cNvSpPr/>
          <p:nvPr/>
        </p:nvSpPr>
        <p:spPr>
          <a:xfrm>
            <a:off x="4937760" y="3767328"/>
            <a:ext cx="3611880" cy="502920"/>
          </a:xfrm>
          <a:prstGeom prst="rect">
            <a:avLst/>
          </a:prstGeom>
          <a:noFill/>
          <a:ln/>
        </p:spPr>
        <p:txBody>
          <a:bodyPr wrap="square" rtlCol="0" anchor="ctr"/>
          <a:lstStyle/>
          <a:p>
            <a:pPr indent="0" marL="0">
              <a:buNone/>
            </a:pPr>
            <a:r>
              <a:rPr lang="en-US" sz="900" i="1" dirty="0">
                <a:solidFill>
                  <a:srgbClr val="8A7358"/>
                </a:solidFill>
                <a:latin typeface="Calibri" pitchFamily="34" charset="0"/>
                <a:ea typeface="Calibri" pitchFamily="34" charset="-122"/>
                <a:cs typeface="Calibri" pitchFamily="34" charset="-120"/>
              </a:rPr>
              <a:t>“Santo, Santo, Santo” · Isaías 6:3</a:t>
            </a:r>
            <a:endParaRPr lang="en-US" sz="900" dirty="0"/>
          </a:p>
        </p:txBody>
      </p:sp>
      <p:sp>
        <p:nvSpPr>
          <p:cNvPr id="24" name="Shape 22"/>
          <p:cNvSpPr/>
          <p:nvPr/>
        </p:nvSpPr>
        <p:spPr>
          <a:xfrm>
            <a:off x="548640" y="4434840"/>
            <a:ext cx="3977640" cy="1325880"/>
          </a:xfrm>
          <a:prstGeom prst="roundRect">
            <a:avLst>
              <a:gd name="adj" fmla="val 6897"/>
            </a:avLst>
          </a:prstGeom>
          <a:solidFill>
            <a:srgbClr val="FFFFFF"/>
          </a:solidFill>
          <a:ln w="12700">
            <a:solidFill>
              <a:srgbClr val="E1D3AE"/>
            </a:solidFill>
            <a:prstDash val="solid"/>
          </a:ln>
        </p:spPr>
      </p:sp>
      <p:sp>
        <p:nvSpPr>
          <p:cNvPr id="25" name="Shape 23"/>
          <p:cNvSpPr/>
          <p:nvPr/>
        </p:nvSpPr>
        <p:spPr>
          <a:xfrm>
            <a:off x="731520" y="4617720"/>
            <a:ext cx="502920" cy="502920"/>
          </a:xfrm>
          <a:prstGeom prst="ellipse">
            <a:avLst/>
          </a:prstGeom>
          <a:solidFill>
            <a:srgbClr val="C9A24B"/>
          </a:solidFill>
          <a:ln/>
        </p:spPr>
      </p:sp>
      <p:sp>
        <p:nvSpPr>
          <p:cNvPr id="26" name="Text 24"/>
          <p:cNvSpPr/>
          <p:nvPr/>
        </p:nvSpPr>
        <p:spPr>
          <a:xfrm>
            <a:off x="731520" y="4617720"/>
            <a:ext cx="502920" cy="502920"/>
          </a:xfrm>
          <a:prstGeom prst="rect">
            <a:avLst/>
          </a:prstGeom>
          <a:noFill/>
          <a:ln/>
        </p:spPr>
        <p:txBody>
          <a:bodyPr wrap="square" rtlCol="0" anchor="ctr"/>
          <a:lstStyle/>
          <a:p>
            <a:pPr algn="ctr" indent="0" marL="0">
              <a:buNone/>
            </a:pPr>
            <a:r>
              <a:rPr lang="en-US" sz="1800" b="1" dirty="0">
                <a:solidFill>
                  <a:srgbClr val="3C2818"/>
                </a:solidFill>
                <a:latin typeface="Cambria" pitchFamily="34" charset="0"/>
                <a:ea typeface="Cambria" pitchFamily="34" charset="-122"/>
                <a:cs typeface="Cambria" pitchFamily="34" charset="-120"/>
              </a:rPr>
              <a:t>10</a:t>
            </a:r>
            <a:endParaRPr lang="en-US" sz="1800" dirty="0"/>
          </a:p>
        </p:txBody>
      </p:sp>
      <p:sp>
        <p:nvSpPr>
          <p:cNvPr id="27" name="Text 25"/>
          <p:cNvSpPr/>
          <p:nvPr/>
        </p:nvSpPr>
        <p:spPr>
          <a:xfrm>
            <a:off x="1371600" y="4581144"/>
            <a:ext cx="2971800" cy="566928"/>
          </a:xfrm>
          <a:prstGeom prst="rect">
            <a:avLst/>
          </a:prstGeom>
          <a:noFill/>
          <a:ln/>
        </p:spPr>
        <p:txBody>
          <a:bodyPr wrap="square" rtlCol="0" anchor="t"/>
          <a:lstStyle/>
          <a:p>
            <a:pPr indent="0" marL="0">
              <a:buNone/>
            </a:pPr>
            <a:r>
              <a:rPr lang="en-US" sz="1100" b="1" dirty="0">
                <a:solidFill>
                  <a:srgbClr val="3C2818"/>
                </a:solidFill>
                <a:latin typeface="Calibri" pitchFamily="34" charset="0"/>
                <a:ea typeface="Calibri" pitchFamily="34" charset="-122"/>
                <a:cs typeface="Calibri" pitchFamily="34" charset="-120"/>
              </a:rPr>
              <a:t>Totalidad en sentido terrenal.</a:t>
            </a:r>
            <a:endParaRPr lang="en-US" sz="1100" dirty="0"/>
          </a:p>
        </p:txBody>
      </p:sp>
      <p:sp>
        <p:nvSpPr>
          <p:cNvPr id="28" name="Text 26"/>
          <p:cNvSpPr/>
          <p:nvPr/>
        </p:nvSpPr>
        <p:spPr>
          <a:xfrm>
            <a:off x="731520" y="5276088"/>
            <a:ext cx="3611880" cy="502920"/>
          </a:xfrm>
          <a:prstGeom prst="rect">
            <a:avLst/>
          </a:prstGeom>
          <a:noFill/>
          <a:ln/>
        </p:spPr>
        <p:txBody>
          <a:bodyPr wrap="square" rtlCol="0" anchor="ctr"/>
          <a:lstStyle/>
          <a:p>
            <a:pPr indent="0" marL="0">
              <a:buNone/>
            </a:pPr>
            <a:r>
              <a:rPr lang="en-US" sz="900" i="1" dirty="0">
                <a:solidFill>
                  <a:srgbClr val="8A7358"/>
                </a:solidFill>
                <a:latin typeface="Calibri" pitchFamily="34" charset="0"/>
                <a:ea typeface="Calibri" pitchFamily="34" charset="-122"/>
                <a:cs typeface="Calibri" pitchFamily="34" charset="-120"/>
              </a:rPr>
              <a:t>Apocalipsis 2:10; 12:3</a:t>
            </a:r>
            <a:endParaRPr lang="en-US" sz="900" dirty="0"/>
          </a:p>
        </p:txBody>
      </p:sp>
      <p:sp>
        <p:nvSpPr>
          <p:cNvPr id="29" name="Shape 27"/>
          <p:cNvSpPr/>
          <p:nvPr/>
        </p:nvSpPr>
        <p:spPr>
          <a:xfrm>
            <a:off x="4754880" y="4434840"/>
            <a:ext cx="3977640" cy="1325880"/>
          </a:xfrm>
          <a:prstGeom prst="roundRect">
            <a:avLst>
              <a:gd name="adj" fmla="val 6897"/>
            </a:avLst>
          </a:prstGeom>
          <a:solidFill>
            <a:srgbClr val="FFFFFF"/>
          </a:solidFill>
          <a:ln w="12700">
            <a:solidFill>
              <a:srgbClr val="E1D3AE"/>
            </a:solidFill>
            <a:prstDash val="solid"/>
          </a:ln>
        </p:spPr>
      </p:sp>
      <p:sp>
        <p:nvSpPr>
          <p:cNvPr id="30" name="Shape 28"/>
          <p:cNvSpPr/>
          <p:nvPr/>
        </p:nvSpPr>
        <p:spPr>
          <a:xfrm>
            <a:off x="4937760" y="4617720"/>
            <a:ext cx="502920" cy="502920"/>
          </a:xfrm>
          <a:prstGeom prst="ellipse">
            <a:avLst/>
          </a:prstGeom>
          <a:solidFill>
            <a:srgbClr val="C9A24B"/>
          </a:solidFill>
          <a:ln/>
        </p:spPr>
      </p:sp>
      <p:sp>
        <p:nvSpPr>
          <p:cNvPr id="31" name="Text 29"/>
          <p:cNvSpPr/>
          <p:nvPr/>
        </p:nvSpPr>
        <p:spPr>
          <a:xfrm>
            <a:off x="4937760" y="4617720"/>
            <a:ext cx="502920" cy="502920"/>
          </a:xfrm>
          <a:prstGeom prst="rect">
            <a:avLst/>
          </a:prstGeom>
          <a:noFill/>
          <a:ln/>
        </p:spPr>
        <p:txBody>
          <a:bodyPr wrap="square" rtlCol="0" anchor="ctr"/>
          <a:lstStyle/>
          <a:p>
            <a:pPr algn="ctr" indent="0" marL="0">
              <a:buNone/>
            </a:pPr>
            <a:r>
              <a:rPr lang="en-US" sz="1800" b="1" dirty="0">
                <a:solidFill>
                  <a:srgbClr val="3C2818"/>
                </a:solidFill>
                <a:latin typeface="Cambria" pitchFamily="34" charset="0"/>
                <a:ea typeface="Cambria" pitchFamily="34" charset="-122"/>
                <a:cs typeface="Cambria" pitchFamily="34" charset="-120"/>
              </a:rPr>
              <a:t>6</a:t>
            </a:r>
            <a:endParaRPr lang="en-US" sz="1800" dirty="0"/>
          </a:p>
        </p:txBody>
      </p:sp>
      <p:sp>
        <p:nvSpPr>
          <p:cNvPr id="32" name="Text 30"/>
          <p:cNvSpPr/>
          <p:nvPr/>
        </p:nvSpPr>
        <p:spPr>
          <a:xfrm>
            <a:off x="5577840" y="4581144"/>
            <a:ext cx="2971800" cy="566928"/>
          </a:xfrm>
          <a:prstGeom prst="rect">
            <a:avLst/>
          </a:prstGeom>
          <a:noFill/>
          <a:ln/>
        </p:spPr>
        <p:txBody>
          <a:bodyPr wrap="square" rtlCol="0" anchor="t"/>
          <a:lstStyle/>
          <a:p>
            <a:pPr indent="0" marL="0">
              <a:buNone/>
            </a:pPr>
            <a:r>
              <a:rPr lang="en-US" sz="1100" b="1" dirty="0">
                <a:solidFill>
                  <a:srgbClr val="3C2818"/>
                </a:solidFill>
                <a:latin typeface="Calibri" pitchFamily="34" charset="0"/>
                <a:ea typeface="Calibri" pitchFamily="34" charset="-122"/>
                <a:cs typeface="Calibri" pitchFamily="34" charset="-120"/>
              </a:rPr>
              <a:t>Imperfección — algo que no es lo normal.</a:t>
            </a:r>
            <a:endParaRPr lang="en-US" sz="1100" dirty="0"/>
          </a:p>
        </p:txBody>
      </p:sp>
      <p:sp>
        <p:nvSpPr>
          <p:cNvPr id="33" name="Text 31"/>
          <p:cNvSpPr/>
          <p:nvPr/>
        </p:nvSpPr>
        <p:spPr>
          <a:xfrm>
            <a:off x="4937760" y="5276088"/>
            <a:ext cx="3611880" cy="502920"/>
          </a:xfrm>
          <a:prstGeom prst="rect">
            <a:avLst/>
          </a:prstGeom>
          <a:noFill/>
          <a:ln/>
        </p:spPr>
        <p:txBody>
          <a:bodyPr wrap="square" rtlCol="0" anchor="ctr"/>
          <a:lstStyle/>
          <a:p>
            <a:pPr indent="0" marL="0">
              <a:buNone/>
            </a:pPr>
            <a:r>
              <a:rPr lang="en-US" sz="900" i="1" dirty="0">
                <a:solidFill>
                  <a:srgbClr val="8A7358"/>
                </a:solidFill>
                <a:latin typeface="Calibri" pitchFamily="34" charset="0"/>
                <a:ea typeface="Calibri" pitchFamily="34" charset="-122"/>
                <a:cs typeface="Calibri" pitchFamily="34" charset="-120"/>
              </a:rPr>
              <a:t>Apocalipsis 13:18</a:t>
            </a:r>
            <a:endParaRPr lang="en-US" sz="900" dirty="0"/>
          </a:p>
        </p:txBody>
      </p:sp>
      <p:pic>
        <p:nvPicPr>
          <p:cNvPr id="34" name="Image 0" descr="/home/claude/ronda12_pptx/img/numeros_tabla.jpg">    </p:cNvPr>
          <p:cNvPicPr>
            <a:picLocks noChangeAspect="1"/>
          </p:cNvPicPr>
          <p:nvPr/>
        </p:nvPicPr>
        <p:blipFill>
          <a:blip r:embed="rId1"/>
          <a:stretch>
            <a:fillRect/>
          </a:stretch>
        </p:blipFill>
        <p:spPr>
          <a:xfrm>
            <a:off x="9281160" y="1371600"/>
            <a:ext cx="2148840" cy="3959352"/>
          </a:xfrm>
          <a:prstGeom prst="rect">
            <a:avLst/>
          </a:prstGeom>
        </p:spPr>
      </p:pic>
      <p:sp>
        <p:nvSpPr>
          <p:cNvPr id="35" name="Text 32"/>
          <p:cNvSpPr/>
          <p:nvPr/>
        </p:nvSpPr>
        <p:spPr>
          <a:xfrm>
            <a:off x="9189720" y="5358384"/>
            <a:ext cx="2331720" cy="274320"/>
          </a:xfrm>
          <a:prstGeom prst="rect">
            <a:avLst/>
          </a:prstGeom>
          <a:noFill/>
          <a:ln/>
        </p:spPr>
        <p:txBody>
          <a:bodyPr wrap="square" rtlCol="0" anchor="ctr"/>
          <a:lstStyle/>
          <a:p>
            <a:pPr algn="ctr" indent="0" marL="0">
              <a:buNone/>
            </a:pPr>
            <a:r>
              <a:rPr lang="en-US" sz="800" i="1" dirty="0">
                <a:solidFill>
                  <a:srgbClr val="8A7358"/>
                </a:solidFill>
                <a:latin typeface="Calibri" pitchFamily="34" charset="0"/>
                <a:ea typeface="Calibri" pitchFamily="34" charset="-122"/>
                <a:cs typeface="Calibri" pitchFamily="34" charset="-120"/>
              </a:rPr>
              <a:t>Watch Tower (1988)</a:t>
            </a:r>
            <a:endParaRPr lang="en-US" sz="800" dirty="0"/>
          </a:p>
        </p:txBody>
      </p:sp>
      <p:sp>
        <p:nvSpPr>
          <p:cNvPr id="36" name="Text 33"/>
          <p:cNvSpPr/>
          <p:nvPr/>
        </p:nvSpPr>
        <p:spPr>
          <a:xfrm>
            <a:off x="548640" y="5943600"/>
            <a:ext cx="8503920" cy="365760"/>
          </a:xfrm>
          <a:prstGeom prst="rect">
            <a:avLst/>
          </a:prstGeom>
          <a:noFill/>
          <a:ln/>
        </p:spPr>
        <p:txBody>
          <a:bodyPr wrap="square" rtlCol="0" anchor="ctr"/>
          <a:lstStyle/>
          <a:p>
            <a:pPr indent="0" marL="0">
              <a:buNone/>
            </a:pPr>
            <a:r>
              <a:rPr lang="en-US" sz="950" i="1" dirty="0">
                <a:solidFill>
                  <a:srgbClr val="8A7358"/>
                </a:solidFill>
                <a:latin typeface="Calibri" pitchFamily="34" charset="0"/>
                <a:ea typeface="Calibri" pitchFamily="34" charset="-122"/>
                <a:cs typeface="Calibri" pitchFamily="34" charset="-120"/>
              </a:rPr>
              <a:t>Interpretación según: Holman Bible Publishers (2015), Biblia de estudio arcoíris (Reina-Valera 1960), y Watch Tower (1988). Ver diapositiva de referencias.</a:t>
            </a:r>
            <a:endParaRPr lang="en-US" sz="950" dirty="0"/>
          </a:p>
        </p:txBody>
      </p:sp>
      <p:sp>
        <p:nvSpPr>
          <p:cNvPr id="37" name="Text 34"/>
          <p:cNvSpPr/>
          <p:nvPr/>
        </p:nvSpPr>
        <p:spPr>
          <a:xfrm>
            <a:off x="457200" y="6473952"/>
            <a:ext cx="10180015" cy="274320"/>
          </a:xfrm>
          <a:prstGeom prst="rect">
            <a:avLst/>
          </a:prstGeom>
          <a:noFill/>
          <a:ln/>
        </p:spPr>
        <p:txBody>
          <a:bodyPr wrap="square" rtlCol="0" anchor="ctr"/>
          <a:lstStyle/>
          <a:p>
            <a:pPr algn="l" indent="0" marL="0">
              <a:buNone/>
            </a:pPr>
            <a:r>
              <a:rPr lang="en-US" sz="900" dirty="0">
                <a:solidFill>
                  <a:srgbClr val="8A7358"/>
                </a:solidFill>
                <a:latin typeface="Calibri" pitchFamily="34" charset="0"/>
                <a:ea typeface="Calibri" pitchFamily="34" charset="-122"/>
                <a:cs typeface="Calibri" pitchFamily="34" charset="-120"/>
              </a:rPr>
              <a:t>DIBUJA EL CÍRCULO · RONDA 12  |  Apertura Metodológica · 13 de agosto de 2026</a:t>
            </a:r>
            <a:endParaRPr lang="en-US" sz="900" dirty="0"/>
          </a:p>
        </p:txBody>
      </p:sp>
      <p:pic>
        <p:nvPicPr>
          <p:cNvPr id="38" name="Image 1" descr="/home/claude/ronda12_pptx/logo_small.png">    </p:cNvPr>
          <p:cNvPicPr>
            <a:picLocks noChangeAspect="1"/>
          </p:cNvPicPr>
          <p:nvPr/>
        </p:nvPicPr>
        <p:blipFill>
          <a:blip r:embed="rId2"/>
          <a:stretch>
            <a:fillRect/>
          </a:stretch>
        </p:blipFill>
        <p:spPr>
          <a:xfrm>
            <a:off x="11140135" y="6199632"/>
            <a:ext cx="566928" cy="566928"/>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6E3550"/>
        </a:solidFill>
      </p:bgPr>
    </p:bg>
    <p:spTree>
      <p:nvGrpSpPr>
        <p:cNvPr id="1" name=""/>
        <p:cNvGrpSpPr/>
        <p:nvPr/>
      </p:nvGrpSpPr>
      <p:grpSpPr>
        <a:xfrm>
          <a:off x="0" y="0"/>
          <a:ext cx="0" cy="0"/>
          <a:chOff x="0" y="0"/>
          <a:chExt cx="0" cy="0"/>
        </a:xfrm>
      </p:grpSpPr>
      <p:sp>
        <p:nvSpPr>
          <p:cNvPr id="2" name="Shape 0"/>
          <p:cNvSpPr/>
          <p:nvPr/>
        </p:nvSpPr>
        <p:spPr>
          <a:xfrm>
            <a:off x="9631375" y="-1371600"/>
            <a:ext cx="3657600" cy="3657600"/>
          </a:xfrm>
          <a:prstGeom prst="ellipse">
            <a:avLst/>
          </a:prstGeom>
          <a:ln w="25400">
            <a:solidFill>
              <a:srgbClr val="C9A24B"/>
            </a:solidFill>
            <a:prstDash val="solid"/>
          </a:ln>
        </p:spPr>
      </p:sp>
      <p:sp>
        <p:nvSpPr>
          <p:cNvPr id="3" name="Text 1"/>
          <p:cNvSpPr/>
          <p:nvPr/>
        </p:nvSpPr>
        <p:spPr>
          <a:xfrm>
            <a:off x="640080" y="548640"/>
            <a:ext cx="10911535" cy="731520"/>
          </a:xfrm>
          <a:prstGeom prst="rect">
            <a:avLst/>
          </a:prstGeom>
          <a:noFill/>
          <a:ln/>
        </p:spPr>
        <p:txBody>
          <a:bodyPr wrap="square" rtlCol="0" anchor="ctr"/>
          <a:lstStyle/>
          <a:p>
            <a:pPr indent="0" marL="0">
              <a:buNone/>
            </a:pPr>
            <a:r>
              <a:rPr lang="en-US" sz="3000" b="1" dirty="0">
                <a:solidFill>
                  <a:srgbClr val="F7F1E4"/>
                </a:solidFill>
                <a:latin typeface="Cambria" pitchFamily="34" charset="0"/>
                <a:ea typeface="Cambria" pitchFamily="34" charset="-122"/>
                <a:cs typeface="Cambria" pitchFamily="34" charset="-120"/>
              </a:rPr>
              <a:t>¿Qué significa “reprender”?</a:t>
            </a:r>
            <a:endParaRPr lang="en-US" sz="3000" dirty="0"/>
          </a:p>
        </p:txBody>
      </p:sp>
      <p:sp>
        <p:nvSpPr>
          <p:cNvPr id="4" name="Text 2"/>
          <p:cNvSpPr/>
          <p:nvPr/>
        </p:nvSpPr>
        <p:spPr>
          <a:xfrm>
            <a:off x="640080" y="1234440"/>
            <a:ext cx="10911535" cy="365760"/>
          </a:xfrm>
          <a:prstGeom prst="rect">
            <a:avLst/>
          </a:prstGeom>
          <a:noFill/>
          <a:ln/>
        </p:spPr>
        <p:txBody>
          <a:bodyPr wrap="square" rtlCol="0" anchor="ctr"/>
          <a:lstStyle/>
          <a:p>
            <a:pPr indent="0" marL="0">
              <a:buNone/>
            </a:pPr>
            <a:r>
              <a:rPr lang="en-US" sz="1400" i="1" dirty="0">
                <a:solidFill>
                  <a:srgbClr val="E4C77A"/>
                </a:solidFill>
                <a:latin typeface="Calibri" pitchFamily="34" charset="0"/>
                <a:ea typeface="Calibri" pitchFamily="34" charset="-122"/>
                <a:cs typeface="Calibri" pitchFamily="34" charset="-120"/>
              </a:rPr>
              <a:t>El patrón de las cartas a las siete iglesias (Apocalipsis 2–3)</a:t>
            </a:r>
            <a:endParaRPr lang="en-US" sz="1400" dirty="0"/>
          </a:p>
        </p:txBody>
      </p:sp>
      <p:sp>
        <p:nvSpPr>
          <p:cNvPr id="5" name="Shape 3"/>
          <p:cNvSpPr/>
          <p:nvPr/>
        </p:nvSpPr>
        <p:spPr>
          <a:xfrm>
            <a:off x="822960" y="2103120"/>
            <a:ext cx="2514600" cy="1051560"/>
          </a:xfrm>
          <a:prstGeom prst="roundRect">
            <a:avLst>
              <a:gd name="adj" fmla="val 10435"/>
            </a:avLst>
          </a:prstGeom>
          <a:solidFill>
            <a:srgbClr val="2B1B10"/>
          </a:solidFill>
          <a:ln w="12700">
            <a:solidFill>
              <a:srgbClr val="C9A24B"/>
            </a:solidFill>
            <a:prstDash val="solid"/>
          </a:ln>
        </p:spPr>
      </p:sp>
      <p:sp>
        <p:nvSpPr>
          <p:cNvPr id="6" name="Text 4"/>
          <p:cNvSpPr/>
          <p:nvPr/>
        </p:nvSpPr>
        <p:spPr>
          <a:xfrm>
            <a:off x="914400" y="2103120"/>
            <a:ext cx="2331720" cy="1051560"/>
          </a:xfrm>
          <a:prstGeom prst="rect">
            <a:avLst/>
          </a:prstGeom>
          <a:noFill/>
          <a:ln/>
        </p:spPr>
        <p:txBody>
          <a:bodyPr wrap="square" rtlCol="0" anchor="ctr"/>
          <a:lstStyle/>
          <a:p>
            <a:pPr algn="ctr" indent="0" marL="0">
              <a:buNone/>
            </a:pPr>
            <a:r>
              <a:rPr lang="en-US" sz="1350" b="1" dirty="0">
                <a:solidFill>
                  <a:srgbClr val="E4C77A"/>
                </a:solidFill>
                <a:latin typeface="Cambria" pitchFamily="34" charset="0"/>
                <a:ea typeface="Cambria" pitchFamily="34" charset="-122"/>
                <a:cs typeface="Cambria" pitchFamily="34" charset="-120"/>
              </a:rPr>
              <a:t>Elogio</a:t>
            </a:r>
            <a:endParaRPr lang="en-US" sz="1350" dirty="0"/>
          </a:p>
        </p:txBody>
      </p:sp>
      <p:sp>
        <p:nvSpPr>
          <p:cNvPr id="7" name="Text 5"/>
          <p:cNvSpPr/>
          <p:nvPr/>
        </p:nvSpPr>
        <p:spPr>
          <a:xfrm>
            <a:off x="3337560" y="2331720"/>
            <a:ext cx="320040" cy="594360"/>
          </a:xfrm>
          <a:prstGeom prst="rect">
            <a:avLst/>
          </a:prstGeom>
          <a:noFill/>
          <a:ln/>
        </p:spPr>
        <p:txBody>
          <a:bodyPr wrap="square" rtlCol="0" anchor="ctr"/>
          <a:lstStyle/>
          <a:p>
            <a:pPr algn="ctr" indent="0" marL="0">
              <a:buNone/>
            </a:pPr>
            <a:r>
              <a:rPr lang="en-US" sz="2200" b="1" dirty="0">
                <a:solidFill>
                  <a:srgbClr val="C9A24B"/>
                </a:solidFill>
                <a:latin typeface="Arial" pitchFamily="34" charset="0"/>
                <a:ea typeface="Arial" pitchFamily="34" charset="-122"/>
                <a:cs typeface="Arial" pitchFamily="34" charset="-120"/>
              </a:rPr>
              <a:t>→</a:t>
            </a:r>
            <a:endParaRPr lang="en-US" sz="2200" dirty="0"/>
          </a:p>
        </p:txBody>
      </p:sp>
      <p:sp>
        <p:nvSpPr>
          <p:cNvPr id="8" name="Shape 6"/>
          <p:cNvSpPr/>
          <p:nvPr/>
        </p:nvSpPr>
        <p:spPr>
          <a:xfrm>
            <a:off x="3657600" y="2103120"/>
            <a:ext cx="2514600" cy="1051560"/>
          </a:xfrm>
          <a:prstGeom prst="roundRect">
            <a:avLst>
              <a:gd name="adj" fmla="val 10435"/>
            </a:avLst>
          </a:prstGeom>
          <a:solidFill>
            <a:srgbClr val="2B1B10"/>
          </a:solidFill>
          <a:ln w="12700">
            <a:solidFill>
              <a:srgbClr val="C9A24B"/>
            </a:solidFill>
            <a:prstDash val="solid"/>
          </a:ln>
        </p:spPr>
      </p:sp>
      <p:sp>
        <p:nvSpPr>
          <p:cNvPr id="9" name="Text 7"/>
          <p:cNvSpPr/>
          <p:nvPr/>
        </p:nvSpPr>
        <p:spPr>
          <a:xfrm>
            <a:off x="3749040" y="2103120"/>
            <a:ext cx="2331720" cy="1051560"/>
          </a:xfrm>
          <a:prstGeom prst="rect">
            <a:avLst/>
          </a:prstGeom>
          <a:noFill/>
          <a:ln/>
        </p:spPr>
        <p:txBody>
          <a:bodyPr wrap="square" rtlCol="0" anchor="ctr"/>
          <a:lstStyle/>
          <a:p>
            <a:pPr algn="ctr" indent="0" marL="0">
              <a:buNone/>
            </a:pPr>
            <a:r>
              <a:rPr lang="en-US" sz="1350" b="1" dirty="0">
                <a:solidFill>
                  <a:srgbClr val="E4C77A"/>
                </a:solidFill>
                <a:latin typeface="Cambria" pitchFamily="34" charset="0"/>
                <a:ea typeface="Cambria" pitchFamily="34" charset="-122"/>
                <a:cs typeface="Cambria" pitchFamily="34" charset="-120"/>
              </a:rPr>
              <a:t>Reprensión específica</a:t>
            </a:r>
            <a:endParaRPr lang="en-US" sz="1350" dirty="0"/>
          </a:p>
        </p:txBody>
      </p:sp>
      <p:sp>
        <p:nvSpPr>
          <p:cNvPr id="10" name="Text 8"/>
          <p:cNvSpPr/>
          <p:nvPr/>
        </p:nvSpPr>
        <p:spPr>
          <a:xfrm>
            <a:off x="6172200" y="2331720"/>
            <a:ext cx="320040" cy="594360"/>
          </a:xfrm>
          <a:prstGeom prst="rect">
            <a:avLst/>
          </a:prstGeom>
          <a:noFill/>
          <a:ln/>
        </p:spPr>
        <p:txBody>
          <a:bodyPr wrap="square" rtlCol="0" anchor="ctr"/>
          <a:lstStyle/>
          <a:p>
            <a:pPr algn="ctr" indent="0" marL="0">
              <a:buNone/>
            </a:pPr>
            <a:r>
              <a:rPr lang="en-US" sz="2200" b="1" dirty="0">
                <a:solidFill>
                  <a:srgbClr val="C9A24B"/>
                </a:solidFill>
                <a:latin typeface="Arial" pitchFamily="34" charset="0"/>
                <a:ea typeface="Arial" pitchFamily="34" charset="-122"/>
                <a:cs typeface="Arial" pitchFamily="34" charset="-120"/>
              </a:rPr>
              <a:t>→</a:t>
            </a:r>
            <a:endParaRPr lang="en-US" sz="2200" dirty="0"/>
          </a:p>
        </p:txBody>
      </p:sp>
      <p:sp>
        <p:nvSpPr>
          <p:cNvPr id="11" name="Shape 9"/>
          <p:cNvSpPr/>
          <p:nvPr/>
        </p:nvSpPr>
        <p:spPr>
          <a:xfrm>
            <a:off x="6492240" y="2103120"/>
            <a:ext cx="2514600" cy="1051560"/>
          </a:xfrm>
          <a:prstGeom prst="roundRect">
            <a:avLst>
              <a:gd name="adj" fmla="val 10435"/>
            </a:avLst>
          </a:prstGeom>
          <a:solidFill>
            <a:srgbClr val="2B1B10"/>
          </a:solidFill>
          <a:ln w="12700">
            <a:solidFill>
              <a:srgbClr val="C9A24B"/>
            </a:solidFill>
            <a:prstDash val="solid"/>
          </a:ln>
        </p:spPr>
      </p:sp>
      <p:sp>
        <p:nvSpPr>
          <p:cNvPr id="12" name="Text 10"/>
          <p:cNvSpPr/>
          <p:nvPr/>
        </p:nvSpPr>
        <p:spPr>
          <a:xfrm>
            <a:off x="6583680" y="2103120"/>
            <a:ext cx="2331720" cy="1051560"/>
          </a:xfrm>
          <a:prstGeom prst="rect">
            <a:avLst/>
          </a:prstGeom>
          <a:noFill/>
          <a:ln/>
        </p:spPr>
        <p:txBody>
          <a:bodyPr wrap="square" rtlCol="0" anchor="ctr"/>
          <a:lstStyle/>
          <a:p>
            <a:pPr algn="ctr" indent="0" marL="0">
              <a:buNone/>
            </a:pPr>
            <a:r>
              <a:rPr lang="en-US" sz="1350" b="1" dirty="0">
                <a:solidFill>
                  <a:srgbClr val="E4C77A"/>
                </a:solidFill>
                <a:latin typeface="Cambria" pitchFamily="34" charset="0"/>
                <a:ea typeface="Cambria" pitchFamily="34" charset="-122"/>
                <a:cs typeface="Cambria" pitchFamily="34" charset="-120"/>
              </a:rPr>
              <a:t>Llamado a arrepentirse</a:t>
            </a:r>
            <a:endParaRPr lang="en-US" sz="1350" dirty="0"/>
          </a:p>
        </p:txBody>
      </p:sp>
      <p:sp>
        <p:nvSpPr>
          <p:cNvPr id="13" name="Text 11"/>
          <p:cNvSpPr/>
          <p:nvPr/>
        </p:nvSpPr>
        <p:spPr>
          <a:xfrm>
            <a:off x="9006840" y="2331720"/>
            <a:ext cx="320040" cy="594360"/>
          </a:xfrm>
          <a:prstGeom prst="rect">
            <a:avLst/>
          </a:prstGeom>
          <a:noFill/>
          <a:ln/>
        </p:spPr>
        <p:txBody>
          <a:bodyPr wrap="square" rtlCol="0" anchor="ctr"/>
          <a:lstStyle/>
          <a:p>
            <a:pPr algn="ctr" indent="0" marL="0">
              <a:buNone/>
            </a:pPr>
            <a:r>
              <a:rPr lang="en-US" sz="2200" b="1" dirty="0">
                <a:solidFill>
                  <a:srgbClr val="C9A24B"/>
                </a:solidFill>
                <a:latin typeface="Arial" pitchFamily="34" charset="0"/>
                <a:ea typeface="Arial" pitchFamily="34" charset="-122"/>
                <a:cs typeface="Arial" pitchFamily="34" charset="-120"/>
              </a:rPr>
              <a:t>→</a:t>
            </a:r>
            <a:endParaRPr lang="en-US" sz="2200" dirty="0"/>
          </a:p>
        </p:txBody>
      </p:sp>
      <p:sp>
        <p:nvSpPr>
          <p:cNvPr id="14" name="Shape 12"/>
          <p:cNvSpPr/>
          <p:nvPr/>
        </p:nvSpPr>
        <p:spPr>
          <a:xfrm>
            <a:off x="9326880" y="2103120"/>
            <a:ext cx="2514600" cy="1051560"/>
          </a:xfrm>
          <a:prstGeom prst="roundRect">
            <a:avLst>
              <a:gd name="adj" fmla="val 10435"/>
            </a:avLst>
          </a:prstGeom>
          <a:solidFill>
            <a:srgbClr val="2B1B10"/>
          </a:solidFill>
          <a:ln w="12700">
            <a:solidFill>
              <a:srgbClr val="C9A24B"/>
            </a:solidFill>
            <a:prstDash val="solid"/>
          </a:ln>
        </p:spPr>
      </p:sp>
      <p:sp>
        <p:nvSpPr>
          <p:cNvPr id="15" name="Text 13"/>
          <p:cNvSpPr/>
          <p:nvPr/>
        </p:nvSpPr>
        <p:spPr>
          <a:xfrm>
            <a:off x="9418320" y="2103120"/>
            <a:ext cx="2331720" cy="1051560"/>
          </a:xfrm>
          <a:prstGeom prst="rect">
            <a:avLst/>
          </a:prstGeom>
          <a:noFill/>
          <a:ln/>
        </p:spPr>
        <p:txBody>
          <a:bodyPr wrap="square" rtlCol="0" anchor="ctr"/>
          <a:lstStyle/>
          <a:p>
            <a:pPr algn="ctr" indent="0" marL="0">
              <a:buNone/>
            </a:pPr>
            <a:r>
              <a:rPr lang="en-US" sz="1350" b="1" dirty="0">
                <a:solidFill>
                  <a:srgbClr val="E4C77A"/>
                </a:solidFill>
                <a:latin typeface="Cambria" pitchFamily="34" charset="0"/>
                <a:ea typeface="Cambria" pitchFamily="34" charset="-122"/>
                <a:cs typeface="Cambria" pitchFamily="34" charset="-120"/>
              </a:rPr>
              <a:t>Promesa al que venza</a:t>
            </a:r>
            <a:endParaRPr lang="en-US" sz="1350" dirty="0"/>
          </a:p>
        </p:txBody>
      </p:sp>
      <p:sp>
        <p:nvSpPr>
          <p:cNvPr id="16" name="Shape 14"/>
          <p:cNvSpPr/>
          <p:nvPr/>
        </p:nvSpPr>
        <p:spPr>
          <a:xfrm>
            <a:off x="822960" y="3566160"/>
            <a:ext cx="10545775" cy="2331720"/>
          </a:xfrm>
          <a:prstGeom prst="roundRect">
            <a:avLst>
              <a:gd name="adj" fmla="val 4706"/>
            </a:avLst>
          </a:prstGeom>
          <a:solidFill>
            <a:srgbClr val="2B1B10"/>
          </a:solidFill>
          <a:ln/>
        </p:spPr>
      </p:sp>
      <p:sp>
        <p:nvSpPr>
          <p:cNvPr id="17" name="Text 15"/>
          <p:cNvSpPr/>
          <p:nvPr/>
        </p:nvSpPr>
        <p:spPr>
          <a:xfrm>
            <a:off x="1097280" y="3749040"/>
            <a:ext cx="9997135" cy="914400"/>
          </a:xfrm>
          <a:prstGeom prst="rect">
            <a:avLst/>
          </a:prstGeom>
          <a:noFill/>
          <a:ln/>
        </p:spPr>
        <p:txBody>
          <a:bodyPr wrap="square" rtlCol="0" anchor="ctr"/>
          <a:lstStyle/>
          <a:p>
            <a:pPr indent="0" marL="0">
              <a:buNone/>
            </a:pPr>
            <a:r>
              <a:rPr lang="en-US" sz="1600" i="1" dirty="0">
                <a:solidFill>
                  <a:srgbClr val="F7F1E4"/>
                </a:solidFill>
                <a:latin typeface="Cambria" pitchFamily="34" charset="0"/>
                <a:ea typeface="Cambria" pitchFamily="34" charset="-122"/>
                <a:cs typeface="Cambria" pitchFamily="34" charset="-120"/>
              </a:rPr>
              <a:t>No es rechazo — es corrección desde el amor de quien todavía camina “en medio de los candeleros” (Apocalipsis 1:13; 2:1). Es disciplina de Padre, no sentencia de juez lejano.</a:t>
            </a:r>
            <a:endParaRPr lang="en-US" sz="1600" dirty="0"/>
          </a:p>
        </p:txBody>
      </p:sp>
      <p:sp>
        <p:nvSpPr>
          <p:cNvPr id="18" name="Text 16"/>
          <p:cNvSpPr/>
          <p:nvPr/>
        </p:nvSpPr>
        <p:spPr>
          <a:xfrm>
            <a:off x="1097280" y="4709160"/>
            <a:ext cx="9997135" cy="1005840"/>
          </a:xfrm>
          <a:prstGeom prst="rect">
            <a:avLst/>
          </a:prstGeom>
          <a:noFill/>
          <a:ln/>
        </p:spPr>
        <p:txBody>
          <a:bodyPr wrap="square" rtlCol="0" anchor="ctr"/>
          <a:lstStyle/>
          <a:p>
            <a:pPr indent="0" marL="0">
              <a:buNone/>
            </a:pPr>
            <a:r>
              <a:rPr lang="en-US" sz="1350" dirty="0">
                <a:solidFill>
                  <a:srgbClr val="E4C77A"/>
                </a:solidFill>
                <a:latin typeface="Calibri" pitchFamily="34" charset="0"/>
                <a:ea typeface="Calibri" pitchFamily="34" charset="-122"/>
                <a:cs typeface="Calibri" pitchFamily="34" charset="-120"/>
              </a:rPr>
              <a:t>Para la vida: ¿qué reprensión de estas siete cartas reconozco hoy en mi propio caminar — no para condenarme, sino para volver al centro (eco del Día 3)?</a:t>
            </a:r>
            <a:endParaRPr lang="en-US" sz="1350" dirty="0"/>
          </a:p>
        </p:txBody>
      </p:sp>
      <p:sp>
        <p:nvSpPr>
          <p:cNvPr id="19" name="Text 17"/>
          <p:cNvSpPr/>
          <p:nvPr/>
        </p:nvSpPr>
        <p:spPr>
          <a:xfrm>
            <a:off x="457200" y="6473952"/>
            <a:ext cx="10180015" cy="274320"/>
          </a:xfrm>
          <a:prstGeom prst="rect">
            <a:avLst/>
          </a:prstGeom>
          <a:noFill/>
          <a:ln/>
        </p:spPr>
        <p:txBody>
          <a:bodyPr wrap="square" rtlCol="0" anchor="ctr"/>
          <a:lstStyle/>
          <a:p>
            <a:pPr algn="l" indent="0" marL="0">
              <a:buNone/>
            </a:pPr>
            <a:r>
              <a:rPr lang="en-US" sz="900" dirty="0">
                <a:solidFill>
                  <a:srgbClr val="C9A24B"/>
                </a:solidFill>
                <a:latin typeface="Calibri" pitchFamily="34" charset="0"/>
                <a:ea typeface="Calibri" pitchFamily="34" charset="-122"/>
                <a:cs typeface="Calibri" pitchFamily="34" charset="-120"/>
              </a:rPr>
              <a:t>DIBUJA EL CÍRCULO · RONDA 12  |  Apertura Metodológica · 13 de agosto de 2026</a:t>
            </a:r>
            <a:endParaRPr lang="en-US" sz="900" dirty="0"/>
          </a:p>
        </p:txBody>
      </p:sp>
      <p:pic>
        <p:nvPicPr>
          <p:cNvPr id="20" name="Image 0" descr="/home/claude/ronda12_pptx/logo_small.png">    </p:cNvPr>
          <p:cNvPicPr>
            <a:picLocks noChangeAspect="1"/>
          </p:cNvPicPr>
          <p:nvPr/>
        </p:nvPicPr>
        <p:blipFill>
          <a:blip r:embed="rId1"/>
          <a:stretch>
            <a:fillRect/>
          </a:stretch>
        </p:blipFill>
        <p:spPr>
          <a:xfrm>
            <a:off x="11140135" y="6199632"/>
            <a:ext cx="566928" cy="566928"/>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1E4"/>
        </a:solidFill>
      </p:bgPr>
    </p:bg>
    <p:spTree>
      <p:nvGrpSpPr>
        <p:cNvPr id="1" name=""/>
        <p:cNvGrpSpPr/>
        <p:nvPr/>
      </p:nvGrpSpPr>
      <p:grpSpPr>
        <a:xfrm>
          <a:off x="0" y="0"/>
          <a:ext cx="0" cy="0"/>
          <a:chOff x="0" y="0"/>
          <a:chExt cx="0" cy="0"/>
        </a:xfrm>
      </p:grpSpPr>
      <p:sp>
        <p:nvSpPr>
          <p:cNvPr id="2" name="Text 0"/>
          <p:cNvSpPr/>
          <p:nvPr/>
        </p:nvSpPr>
        <p:spPr>
          <a:xfrm>
            <a:off x="548640" y="365760"/>
            <a:ext cx="9601200" cy="548640"/>
          </a:xfrm>
          <a:prstGeom prst="rect">
            <a:avLst/>
          </a:prstGeom>
          <a:noFill/>
          <a:ln/>
        </p:spPr>
        <p:txBody>
          <a:bodyPr wrap="square" rtlCol="0" anchor="ctr"/>
          <a:lstStyle/>
          <a:p>
            <a:pPr indent="0" marL="0">
              <a:buNone/>
            </a:pPr>
            <a:r>
              <a:rPr lang="en-US" sz="2600" b="1" dirty="0">
                <a:solidFill>
                  <a:srgbClr val="6E3550"/>
                </a:solidFill>
                <a:latin typeface="Cambria" pitchFamily="34" charset="0"/>
                <a:ea typeface="Cambria" pitchFamily="34" charset="-122"/>
                <a:cs typeface="Cambria" pitchFamily="34" charset="-120"/>
              </a:rPr>
              <a:t>Nota de contexto: dos fuentes en diálogo</a:t>
            </a:r>
            <a:endParaRPr lang="en-US" sz="2600" dirty="0"/>
          </a:p>
        </p:txBody>
      </p:sp>
      <p:sp>
        <p:nvSpPr>
          <p:cNvPr id="3" name="Text 1"/>
          <p:cNvSpPr/>
          <p:nvPr/>
        </p:nvSpPr>
        <p:spPr>
          <a:xfrm>
            <a:off x="548640" y="896112"/>
            <a:ext cx="9144000" cy="365760"/>
          </a:xfrm>
          <a:prstGeom prst="rect">
            <a:avLst/>
          </a:prstGeom>
          <a:noFill/>
          <a:ln/>
        </p:spPr>
        <p:txBody>
          <a:bodyPr wrap="square" rtlCol="0" anchor="ctr"/>
          <a:lstStyle/>
          <a:p>
            <a:pPr indent="0" marL="0">
              <a:buNone/>
            </a:pPr>
            <a:r>
              <a:rPr lang="en-US" sz="1300" i="1" dirty="0">
                <a:solidFill>
                  <a:srgbClr val="C0704F"/>
                </a:solidFill>
                <a:latin typeface="Calibri" pitchFamily="34" charset="0"/>
                <a:ea typeface="Calibri" pitchFamily="34" charset="-122"/>
                <a:cs typeface="Calibri" pitchFamily="34" charset="-120"/>
              </a:rPr>
              <a:t>Transparencia sobre el material que se comparte hoy</a:t>
            </a:r>
            <a:endParaRPr lang="en-US" sz="1300" dirty="0"/>
          </a:p>
        </p:txBody>
      </p:sp>
      <p:sp>
        <p:nvSpPr>
          <p:cNvPr id="4" name="Shape 2"/>
          <p:cNvSpPr/>
          <p:nvPr/>
        </p:nvSpPr>
        <p:spPr>
          <a:xfrm>
            <a:off x="548640" y="1463040"/>
            <a:ext cx="5440680" cy="4480560"/>
          </a:xfrm>
          <a:prstGeom prst="roundRect">
            <a:avLst>
              <a:gd name="adj" fmla="val 2449"/>
            </a:avLst>
          </a:prstGeom>
          <a:solidFill>
            <a:srgbClr val="FFFFFF"/>
          </a:solidFill>
          <a:ln w="12700">
            <a:solidFill>
              <a:srgbClr val="E1D3AE"/>
            </a:solidFill>
            <a:prstDash val="solid"/>
          </a:ln>
        </p:spPr>
      </p:sp>
      <p:sp>
        <p:nvSpPr>
          <p:cNvPr id="5" name="Text 3"/>
          <p:cNvSpPr/>
          <p:nvPr/>
        </p:nvSpPr>
        <p:spPr>
          <a:xfrm>
            <a:off x="822960" y="1691640"/>
            <a:ext cx="4937760" cy="457200"/>
          </a:xfrm>
          <a:prstGeom prst="rect">
            <a:avLst/>
          </a:prstGeom>
          <a:noFill/>
          <a:ln/>
        </p:spPr>
        <p:txBody>
          <a:bodyPr wrap="square" rtlCol="0" anchor="ctr"/>
          <a:lstStyle/>
          <a:p>
            <a:pPr indent="0" marL="0">
              <a:buNone/>
            </a:pPr>
            <a:r>
              <a:rPr lang="en-US" sz="1500" b="1" dirty="0">
                <a:solidFill>
                  <a:srgbClr val="6E3550"/>
                </a:solidFill>
                <a:latin typeface="Cambria" pitchFamily="34" charset="0"/>
                <a:ea typeface="Cambria" pitchFamily="34" charset="-122"/>
                <a:cs typeface="Cambria" pitchFamily="34" charset="-120"/>
              </a:rPr>
              <a:t>Contenido histórico/geográfico compartido</a:t>
            </a:r>
            <a:endParaRPr lang="en-US" sz="1500" dirty="0"/>
          </a:p>
        </p:txBody>
      </p:sp>
      <p:sp>
        <p:nvSpPr>
          <p:cNvPr id="6" name="Text 4"/>
          <p:cNvSpPr/>
          <p:nvPr/>
        </p:nvSpPr>
        <p:spPr>
          <a:xfrm>
            <a:off x="822960" y="2194560"/>
            <a:ext cx="4937760" cy="1463040"/>
          </a:xfrm>
          <a:prstGeom prst="rect">
            <a:avLst/>
          </a:prstGeom>
          <a:noFill/>
          <a:ln/>
        </p:spPr>
        <p:txBody>
          <a:bodyPr wrap="square" rtlCol="0" anchor="ctr"/>
          <a:lstStyle/>
          <a:p>
            <a:pPr indent="0" marL="0">
              <a:lnSpc>
                <a:spcPct val="120000"/>
              </a:lnSpc>
              <a:buNone/>
            </a:pPr>
            <a:r>
              <a:rPr lang="en-US" sz="1250" dirty="0">
                <a:solidFill>
                  <a:srgbClr val="3C2818"/>
                </a:solidFill>
                <a:latin typeface="Calibri" pitchFamily="34" charset="0"/>
                <a:ea typeface="Calibri" pitchFamily="34" charset="-122"/>
                <a:cs typeface="Calibri" pitchFamily="34" charset="-120"/>
              </a:rPr>
              <a:t>Ubicación de Patmos y de las siete ciudades, restos arqueológicos, ruta postal romana, estructura literaria de las cartas: </a:t>
            </a:r>
            <a:pPr indent="0" marL="0">
              <a:lnSpc>
                <a:spcPct val="120000"/>
              </a:lnSpc>
              <a:buNone/>
            </a:pPr>
            <a:r>
              <a:rPr lang="en-US" sz="1250" b="1" dirty="0">
                <a:solidFill>
                  <a:srgbClr val="3C2818"/>
                </a:solidFill>
                <a:latin typeface="Calibri" pitchFamily="34" charset="0"/>
                <a:ea typeface="Calibri" pitchFamily="34" charset="-122"/>
                <a:cs typeface="Calibri" pitchFamily="34" charset="-120"/>
              </a:rPr>
              <a:t>son datos históricos y geográficos aceptados de forma amplia, no exclusivos de ninguna tradición.</a:t>
            </a:r>
            <a:endParaRPr lang="en-US" sz="1250" dirty="0"/>
          </a:p>
        </p:txBody>
      </p:sp>
      <p:sp>
        <p:nvSpPr>
          <p:cNvPr id="7" name="Text 5"/>
          <p:cNvSpPr/>
          <p:nvPr/>
        </p:nvSpPr>
        <p:spPr>
          <a:xfrm>
            <a:off x="822960" y="3657600"/>
            <a:ext cx="4937760" cy="2103120"/>
          </a:xfrm>
          <a:prstGeom prst="rect">
            <a:avLst/>
          </a:prstGeom>
          <a:noFill/>
          <a:ln/>
        </p:spPr>
        <p:txBody>
          <a:bodyPr wrap="square" rtlCol="0" anchor="ctr"/>
          <a:lstStyle/>
          <a:p>
            <a:pPr indent="0" marL="0">
              <a:lnSpc>
                <a:spcPct val="120000"/>
              </a:lnSpc>
              <a:buNone/>
            </a:pPr>
            <a:r>
              <a:rPr lang="en-US" sz="1200" i="1" dirty="0">
                <a:solidFill>
                  <a:srgbClr val="6B5A3E"/>
                </a:solidFill>
                <a:latin typeface="Calibri" pitchFamily="34" charset="0"/>
                <a:ea typeface="Calibri" pitchFamily="34" charset="-122"/>
                <a:cs typeface="Calibri" pitchFamily="34" charset="-120"/>
              </a:rPr>
              <a:t>La tabla de significados numéricos vino originalmente de una Biblia de estudio (Holman, 2015), que a su vez recoge una lectura tradicional también usada por otras fuentes, incluida una publicación de los Testigos de Jehová (1988) que tienes en casa.</a:t>
            </a:r>
            <a:endParaRPr lang="en-US" sz="1200" dirty="0"/>
          </a:p>
        </p:txBody>
      </p:sp>
      <p:sp>
        <p:nvSpPr>
          <p:cNvPr id="8" name="Shape 6"/>
          <p:cNvSpPr/>
          <p:nvPr/>
        </p:nvSpPr>
        <p:spPr>
          <a:xfrm>
            <a:off x="6217920" y="1463040"/>
            <a:ext cx="5440680" cy="4480560"/>
          </a:xfrm>
          <a:prstGeom prst="roundRect">
            <a:avLst>
              <a:gd name="adj" fmla="val 2449"/>
            </a:avLst>
          </a:prstGeom>
          <a:solidFill>
            <a:srgbClr val="3C2818"/>
          </a:solidFill>
          <a:ln/>
        </p:spPr>
      </p:sp>
      <p:sp>
        <p:nvSpPr>
          <p:cNvPr id="9" name="Text 7"/>
          <p:cNvSpPr/>
          <p:nvPr/>
        </p:nvSpPr>
        <p:spPr>
          <a:xfrm>
            <a:off x="6492240" y="1691640"/>
            <a:ext cx="4937760" cy="457200"/>
          </a:xfrm>
          <a:prstGeom prst="rect">
            <a:avLst/>
          </a:prstGeom>
          <a:noFill/>
          <a:ln/>
        </p:spPr>
        <p:txBody>
          <a:bodyPr wrap="square" rtlCol="0" anchor="ctr"/>
          <a:lstStyle/>
          <a:p>
            <a:pPr indent="0" marL="0">
              <a:buNone/>
            </a:pPr>
            <a:r>
              <a:rPr lang="en-US" sz="1500" b="1" dirty="0">
                <a:solidFill>
                  <a:srgbClr val="E4C77A"/>
                </a:solidFill>
                <a:latin typeface="Cambria" pitchFamily="34" charset="0"/>
                <a:ea typeface="Cambria" pitchFamily="34" charset="-122"/>
                <a:cs typeface="Cambria" pitchFamily="34" charset="-120"/>
              </a:rPr>
              <a:t>Diferencias doctrinales a distinguir</a:t>
            </a:r>
            <a:endParaRPr lang="en-US" sz="1500" dirty="0"/>
          </a:p>
        </p:txBody>
      </p:sp>
      <p:sp>
        <p:nvSpPr>
          <p:cNvPr id="10" name="Shape 8"/>
          <p:cNvSpPr/>
          <p:nvPr/>
        </p:nvSpPr>
        <p:spPr>
          <a:xfrm>
            <a:off x="6492240" y="2240280"/>
            <a:ext cx="118872" cy="118872"/>
          </a:xfrm>
          <a:prstGeom prst="ellipse">
            <a:avLst/>
          </a:prstGeom>
          <a:solidFill>
            <a:srgbClr val="C0704F"/>
          </a:solidFill>
          <a:ln/>
        </p:spPr>
      </p:sp>
      <p:sp>
        <p:nvSpPr>
          <p:cNvPr id="11" name="Text 9"/>
          <p:cNvSpPr/>
          <p:nvPr/>
        </p:nvSpPr>
        <p:spPr>
          <a:xfrm>
            <a:off x="6766560" y="2148840"/>
            <a:ext cx="4617720" cy="1051560"/>
          </a:xfrm>
          <a:prstGeom prst="rect">
            <a:avLst/>
          </a:prstGeom>
          <a:noFill/>
          <a:ln/>
        </p:spPr>
        <p:txBody>
          <a:bodyPr wrap="square" rtlCol="0" anchor="ctr"/>
          <a:lstStyle/>
          <a:p>
            <a:pPr indent="0" marL="0">
              <a:lnSpc>
                <a:spcPct val="115000"/>
              </a:lnSpc>
              <a:buNone/>
            </a:pPr>
            <a:r>
              <a:rPr lang="en-US" sz="1100" dirty="0">
                <a:solidFill>
                  <a:srgbClr val="F7F1E4"/>
                </a:solidFill>
                <a:latin typeface="Calibri" pitchFamily="34" charset="0"/>
                <a:ea typeface="Calibri" pitchFamily="34" charset="-122"/>
                <a:cs typeface="Calibri" pitchFamily="34" charset="-120"/>
              </a:rPr>
              <a:t>Cristología: el cristianismo histórico (católico y protestante) confiesa a Jesús como Dios mismo, la segunda Persona de la Trinidad. La literatura de los Testigos de Jehová enseña que Jesús es un ser creado, distinto de Jehová.</a:t>
            </a:r>
            <a:endParaRPr lang="en-US" sz="1100" dirty="0"/>
          </a:p>
        </p:txBody>
      </p:sp>
      <p:sp>
        <p:nvSpPr>
          <p:cNvPr id="12" name="Shape 10"/>
          <p:cNvSpPr/>
          <p:nvPr/>
        </p:nvSpPr>
        <p:spPr>
          <a:xfrm>
            <a:off x="6492240" y="3337560"/>
            <a:ext cx="118872" cy="118872"/>
          </a:xfrm>
          <a:prstGeom prst="ellipse">
            <a:avLst/>
          </a:prstGeom>
          <a:solidFill>
            <a:srgbClr val="C0704F"/>
          </a:solidFill>
          <a:ln/>
        </p:spPr>
      </p:sp>
      <p:sp>
        <p:nvSpPr>
          <p:cNvPr id="13" name="Text 11"/>
          <p:cNvSpPr/>
          <p:nvPr/>
        </p:nvSpPr>
        <p:spPr>
          <a:xfrm>
            <a:off x="6766560" y="3246120"/>
            <a:ext cx="4617720" cy="1051560"/>
          </a:xfrm>
          <a:prstGeom prst="rect">
            <a:avLst/>
          </a:prstGeom>
          <a:noFill/>
          <a:ln/>
        </p:spPr>
        <p:txBody>
          <a:bodyPr wrap="square" rtlCol="0" anchor="ctr"/>
          <a:lstStyle/>
          <a:p>
            <a:pPr indent="0" marL="0">
              <a:lnSpc>
                <a:spcPct val="115000"/>
              </a:lnSpc>
              <a:buNone/>
            </a:pPr>
            <a:r>
              <a:rPr lang="en-US" sz="1100" dirty="0">
                <a:solidFill>
                  <a:srgbClr val="F7F1E4"/>
                </a:solidFill>
                <a:latin typeface="Calibri" pitchFamily="34" charset="0"/>
                <a:ea typeface="Calibri" pitchFamily="34" charset="-122"/>
                <a:cs typeface="Calibri" pitchFamily="34" charset="-120"/>
              </a:rPr>
              <a:t>Autoridad interpretativa: esa tradición sostiene una figura organizativa central (“el esclavo fiel y discreto”) que interpreta la profecía para toda la congregación; Hermanos Circuleños trabaja al revés — cada lector construye su propia aplicación.</a:t>
            </a:r>
            <a:endParaRPr lang="en-US" sz="1100" dirty="0"/>
          </a:p>
        </p:txBody>
      </p:sp>
      <p:sp>
        <p:nvSpPr>
          <p:cNvPr id="14" name="Shape 12"/>
          <p:cNvSpPr/>
          <p:nvPr/>
        </p:nvSpPr>
        <p:spPr>
          <a:xfrm>
            <a:off x="6492240" y="4434840"/>
            <a:ext cx="118872" cy="118872"/>
          </a:xfrm>
          <a:prstGeom prst="ellipse">
            <a:avLst/>
          </a:prstGeom>
          <a:solidFill>
            <a:srgbClr val="C0704F"/>
          </a:solidFill>
          <a:ln/>
        </p:spPr>
      </p:sp>
      <p:sp>
        <p:nvSpPr>
          <p:cNvPr id="15" name="Text 13"/>
          <p:cNvSpPr/>
          <p:nvPr/>
        </p:nvSpPr>
        <p:spPr>
          <a:xfrm>
            <a:off x="6766560" y="4343400"/>
            <a:ext cx="4617720" cy="1051560"/>
          </a:xfrm>
          <a:prstGeom prst="rect">
            <a:avLst/>
          </a:prstGeom>
          <a:noFill/>
          <a:ln/>
        </p:spPr>
        <p:txBody>
          <a:bodyPr wrap="square" rtlCol="0" anchor="ctr"/>
          <a:lstStyle/>
          <a:p>
            <a:pPr indent="0" marL="0">
              <a:lnSpc>
                <a:spcPct val="115000"/>
              </a:lnSpc>
              <a:buNone/>
            </a:pPr>
            <a:r>
              <a:rPr lang="en-US" sz="1100" dirty="0">
                <a:solidFill>
                  <a:srgbClr val="F7F1E4"/>
                </a:solidFill>
                <a:latin typeface="Calibri" pitchFamily="34" charset="0"/>
                <a:ea typeface="Calibri" pitchFamily="34" charset="-122"/>
                <a:cs typeface="Calibri" pitchFamily="34" charset="-120"/>
              </a:rPr>
              <a:t>Escatología: distintas posturas sobre el cumplimiento literal o simbólico de los 144,000 y sobre fechas históricas de cumplimiento profético.</a:t>
            </a:r>
            <a:endParaRPr lang="en-US" sz="1100" dirty="0"/>
          </a:p>
        </p:txBody>
      </p:sp>
      <p:sp>
        <p:nvSpPr>
          <p:cNvPr id="16" name="Text 14"/>
          <p:cNvSpPr/>
          <p:nvPr/>
        </p:nvSpPr>
        <p:spPr>
          <a:xfrm>
            <a:off x="457200" y="6473952"/>
            <a:ext cx="10180015" cy="274320"/>
          </a:xfrm>
          <a:prstGeom prst="rect">
            <a:avLst/>
          </a:prstGeom>
          <a:noFill/>
          <a:ln/>
        </p:spPr>
        <p:txBody>
          <a:bodyPr wrap="square" rtlCol="0" anchor="ctr"/>
          <a:lstStyle/>
          <a:p>
            <a:pPr algn="l" indent="0" marL="0">
              <a:buNone/>
            </a:pPr>
            <a:r>
              <a:rPr lang="en-US" sz="900" dirty="0">
                <a:solidFill>
                  <a:srgbClr val="8A7358"/>
                </a:solidFill>
                <a:latin typeface="Calibri" pitchFamily="34" charset="0"/>
                <a:ea typeface="Calibri" pitchFamily="34" charset="-122"/>
                <a:cs typeface="Calibri" pitchFamily="34" charset="-120"/>
              </a:rPr>
              <a:t>DIBUJA EL CÍRCULO · RONDA 12  |  Apertura Metodológica · 13 de agosto de 2026</a:t>
            </a:r>
            <a:endParaRPr lang="en-US" sz="900" dirty="0"/>
          </a:p>
        </p:txBody>
      </p:sp>
      <p:pic>
        <p:nvPicPr>
          <p:cNvPr id="17" name="Image 0" descr="/home/claude/ronda12_pptx/logo_small.png">    </p:cNvPr>
          <p:cNvPicPr>
            <a:picLocks noChangeAspect="1"/>
          </p:cNvPicPr>
          <p:nvPr/>
        </p:nvPicPr>
        <p:blipFill>
          <a:blip r:embed="rId1"/>
          <a:stretch>
            <a:fillRect/>
          </a:stretch>
        </p:blipFill>
        <p:spPr>
          <a:xfrm>
            <a:off x="11140135" y="6199632"/>
            <a:ext cx="566928" cy="566928"/>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3C2818"/>
        </a:solidFill>
      </p:bgPr>
    </p:bg>
    <p:spTree>
      <p:nvGrpSpPr>
        <p:cNvPr id="1" name=""/>
        <p:cNvGrpSpPr/>
        <p:nvPr/>
      </p:nvGrpSpPr>
      <p:grpSpPr>
        <a:xfrm>
          <a:off x="0" y="0"/>
          <a:ext cx="0" cy="0"/>
          <a:chOff x="0" y="0"/>
          <a:chExt cx="0" cy="0"/>
        </a:xfrm>
      </p:grpSpPr>
      <p:sp>
        <p:nvSpPr>
          <p:cNvPr id="2" name="Text 0"/>
          <p:cNvSpPr/>
          <p:nvPr/>
        </p:nvSpPr>
        <p:spPr>
          <a:xfrm>
            <a:off x="640080" y="548640"/>
            <a:ext cx="10911535" cy="640080"/>
          </a:xfrm>
          <a:prstGeom prst="rect">
            <a:avLst/>
          </a:prstGeom>
          <a:noFill/>
          <a:ln/>
        </p:spPr>
        <p:txBody>
          <a:bodyPr wrap="square" rtlCol="0" anchor="ctr"/>
          <a:lstStyle/>
          <a:p>
            <a:pPr indent="0" marL="0">
              <a:buNone/>
            </a:pPr>
            <a:r>
              <a:rPr lang="en-US" sz="2800" b="1" dirty="0">
                <a:solidFill>
                  <a:srgbClr val="F7F1E4"/>
                </a:solidFill>
                <a:latin typeface="Cambria" pitchFamily="34" charset="0"/>
                <a:ea typeface="Cambria" pitchFamily="34" charset="-122"/>
                <a:cs typeface="Cambria" pitchFamily="34" charset="-120"/>
              </a:rPr>
              <a:t>Referencias (APA 7)</a:t>
            </a:r>
            <a:endParaRPr lang="en-US" sz="2800" dirty="0"/>
          </a:p>
        </p:txBody>
      </p:sp>
      <p:sp>
        <p:nvSpPr>
          <p:cNvPr id="3" name="Shape 1"/>
          <p:cNvSpPr/>
          <p:nvPr/>
        </p:nvSpPr>
        <p:spPr>
          <a:xfrm>
            <a:off x="640080" y="1645920"/>
            <a:ext cx="10911535" cy="914400"/>
          </a:xfrm>
          <a:prstGeom prst="roundRect">
            <a:avLst>
              <a:gd name="adj" fmla="val 10000"/>
            </a:avLst>
          </a:prstGeom>
          <a:solidFill>
            <a:srgbClr val="2B1B10"/>
          </a:solidFill>
          <a:ln w="9525">
            <a:solidFill>
              <a:srgbClr val="C9A24B"/>
            </a:solidFill>
            <a:prstDash val="solid"/>
          </a:ln>
        </p:spPr>
      </p:sp>
      <p:sp>
        <p:nvSpPr>
          <p:cNvPr id="4" name="Text 2"/>
          <p:cNvSpPr/>
          <p:nvPr/>
        </p:nvSpPr>
        <p:spPr>
          <a:xfrm>
            <a:off x="914400" y="1645920"/>
            <a:ext cx="10362895" cy="914400"/>
          </a:xfrm>
          <a:prstGeom prst="rect">
            <a:avLst/>
          </a:prstGeom>
          <a:noFill/>
          <a:ln/>
        </p:spPr>
        <p:txBody>
          <a:bodyPr wrap="square" rtlCol="0" anchor="ctr"/>
          <a:lstStyle/>
          <a:p>
            <a:pPr indent="0" marL="0">
              <a:buNone/>
            </a:pPr>
            <a:r>
              <a:rPr lang="en-US" sz="1300" i="1" dirty="0">
                <a:solidFill>
                  <a:srgbClr val="F7F1E4"/>
                </a:solidFill>
                <a:latin typeface="Cambria" pitchFamily="34" charset="0"/>
                <a:ea typeface="Cambria" pitchFamily="34" charset="-122"/>
                <a:cs typeface="Cambria" pitchFamily="34" charset="-120"/>
              </a:rPr>
              <a:t>Holman Bible Publishers. (2015). Biblia de estudio arcoíris (Reina-Valera 1960). Holman Bible Publishers.</a:t>
            </a:r>
            <a:endParaRPr lang="en-US" sz="1300" dirty="0"/>
          </a:p>
        </p:txBody>
      </p:sp>
      <p:sp>
        <p:nvSpPr>
          <p:cNvPr id="5" name="Shape 3"/>
          <p:cNvSpPr/>
          <p:nvPr/>
        </p:nvSpPr>
        <p:spPr>
          <a:xfrm>
            <a:off x="640080" y="2788920"/>
            <a:ext cx="10911535" cy="914400"/>
          </a:xfrm>
          <a:prstGeom prst="roundRect">
            <a:avLst>
              <a:gd name="adj" fmla="val 10000"/>
            </a:avLst>
          </a:prstGeom>
          <a:solidFill>
            <a:srgbClr val="2B1B10"/>
          </a:solidFill>
          <a:ln w="9525">
            <a:solidFill>
              <a:srgbClr val="C9A24B"/>
            </a:solidFill>
            <a:prstDash val="solid"/>
          </a:ln>
        </p:spPr>
      </p:sp>
      <p:sp>
        <p:nvSpPr>
          <p:cNvPr id="6" name="Text 4"/>
          <p:cNvSpPr/>
          <p:nvPr/>
        </p:nvSpPr>
        <p:spPr>
          <a:xfrm>
            <a:off x="914400" y="2788920"/>
            <a:ext cx="10362895" cy="914400"/>
          </a:xfrm>
          <a:prstGeom prst="rect">
            <a:avLst/>
          </a:prstGeom>
          <a:noFill/>
          <a:ln/>
        </p:spPr>
        <p:txBody>
          <a:bodyPr wrap="square" rtlCol="0" anchor="ctr"/>
          <a:lstStyle/>
          <a:p>
            <a:pPr indent="0" marL="0">
              <a:buNone/>
            </a:pPr>
            <a:r>
              <a:rPr lang="en-US" sz="1300" i="1" dirty="0">
                <a:solidFill>
                  <a:srgbClr val="F7F1E4"/>
                </a:solidFill>
                <a:latin typeface="Cambria" pitchFamily="34" charset="0"/>
                <a:ea typeface="Cambria" pitchFamily="34" charset="-122"/>
                <a:cs typeface="Cambria" pitchFamily="34" charset="-120"/>
              </a:rPr>
              <a:t>Watch Tower Bible and Tract Society of Pennsylvania. (1988). ¡Apocalipsis: Se acerca su magnífica culminación! Watchtower Bible and Tract Society.</a:t>
            </a:r>
            <a:endParaRPr lang="en-US" sz="1300" dirty="0"/>
          </a:p>
        </p:txBody>
      </p:sp>
      <p:sp>
        <p:nvSpPr>
          <p:cNvPr id="7" name="Shape 5"/>
          <p:cNvSpPr/>
          <p:nvPr/>
        </p:nvSpPr>
        <p:spPr>
          <a:xfrm>
            <a:off x="640080" y="3931920"/>
            <a:ext cx="10911535" cy="914400"/>
          </a:xfrm>
          <a:prstGeom prst="roundRect">
            <a:avLst>
              <a:gd name="adj" fmla="val 10000"/>
            </a:avLst>
          </a:prstGeom>
          <a:solidFill>
            <a:srgbClr val="2B1B10"/>
          </a:solidFill>
          <a:ln w="9525">
            <a:solidFill>
              <a:srgbClr val="C9A24B"/>
            </a:solidFill>
            <a:prstDash val="solid"/>
          </a:ln>
        </p:spPr>
      </p:sp>
      <p:sp>
        <p:nvSpPr>
          <p:cNvPr id="8" name="Text 6"/>
          <p:cNvSpPr/>
          <p:nvPr/>
        </p:nvSpPr>
        <p:spPr>
          <a:xfrm>
            <a:off x="914400" y="3931920"/>
            <a:ext cx="10362895" cy="914400"/>
          </a:xfrm>
          <a:prstGeom prst="rect">
            <a:avLst/>
          </a:prstGeom>
          <a:noFill/>
          <a:ln/>
        </p:spPr>
        <p:txBody>
          <a:bodyPr wrap="square" rtlCol="0" anchor="ctr"/>
          <a:lstStyle/>
          <a:p>
            <a:pPr indent="0" marL="0">
              <a:buNone/>
            </a:pPr>
            <a:r>
              <a:rPr lang="en-US" sz="1300" i="1" dirty="0">
                <a:solidFill>
                  <a:srgbClr val="F7F1E4"/>
                </a:solidFill>
                <a:latin typeface="Cambria" pitchFamily="34" charset="0"/>
                <a:ea typeface="Cambria" pitchFamily="34" charset="-122"/>
                <a:cs typeface="Cambria" pitchFamily="34" charset="-120"/>
              </a:rPr>
              <a:t>Tyndale House Publishers. (1996). Santa Biblia: Nueva Traducción Viviente. Tyndale House Publishers.</a:t>
            </a:r>
            <a:endParaRPr lang="en-US" sz="1300" dirty="0"/>
          </a:p>
        </p:txBody>
      </p:sp>
      <p:sp>
        <p:nvSpPr>
          <p:cNvPr id="9" name="Text 7"/>
          <p:cNvSpPr/>
          <p:nvPr/>
        </p:nvSpPr>
        <p:spPr>
          <a:xfrm>
            <a:off x="640080" y="5212080"/>
            <a:ext cx="10911535" cy="548640"/>
          </a:xfrm>
          <a:prstGeom prst="rect">
            <a:avLst/>
          </a:prstGeom>
          <a:noFill/>
          <a:ln/>
        </p:spPr>
        <p:txBody>
          <a:bodyPr wrap="square" rtlCol="0" anchor="ctr"/>
          <a:lstStyle/>
          <a:p>
            <a:pPr indent="0" marL="0">
              <a:buNone/>
            </a:pPr>
            <a:r>
              <a:rPr lang="en-US" sz="1050" i="1" dirty="0">
                <a:solidFill>
                  <a:srgbClr val="E4C77A"/>
                </a:solidFill>
                <a:latin typeface="Calibri" pitchFamily="34" charset="0"/>
                <a:ea typeface="Calibri" pitchFamily="34" charset="-122"/>
                <a:cs typeface="Calibri" pitchFamily="34" charset="-120"/>
              </a:rPr>
              <a:t>Verifica el título exacto de tu Biblia de estudio arcoíris al preparar el documento final — se citó con el nombre y año que compartiste.</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6E3550"/>
        </a:solidFill>
      </p:bgPr>
    </p:bg>
    <p:spTree>
      <p:nvGrpSpPr>
        <p:cNvPr id="1" name=""/>
        <p:cNvGrpSpPr/>
        <p:nvPr/>
      </p:nvGrpSpPr>
      <p:grpSpPr>
        <a:xfrm>
          <a:off x="0" y="0"/>
          <a:ext cx="0" cy="0"/>
          <a:chOff x="0" y="0"/>
          <a:chExt cx="0" cy="0"/>
        </a:xfrm>
      </p:grpSpPr>
      <p:sp>
        <p:nvSpPr>
          <p:cNvPr id="2" name="Shape 0"/>
          <p:cNvSpPr/>
          <p:nvPr/>
        </p:nvSpPr>
        <p:spPr>
          <a:xfrm>
            <a:off x="3992728" y="-3017520"/>
            <a:ext cx="4206240" cy="4206240"/>
          </a:xfrm>
          <a:prstGeom prst="ellipse">
            <a:avLst/>
          </a:prstGeom>
          <a:ln w="31750">
            <a:solidFill>
              <a:srgbClr val="C9A24B"/>
            </a:solidFill>
            <a:prstDash val="solid"/>
          </a:ln>
        </p:spPr>
      </p:sp>
      <p:sp>
        <p:nvSpPr>
          <p:cNvPr id="3" name="Shape 1"/>
          <p:cNvSpPr/>
          <p:nvPr/>
        </p:nvSpPr>
        <p:spPr>
          <a:xfrm>
            <a:off x="4724248" y="7406640"/>
            <a:ext cx="2743200" cy="2743200"/>
          </a:xfrm>
          <a:prstGeom prst="ellipse">
            <a:avLst/>
          </a:prstGeom>
          <a:ln w="25400">
            <a:solidFill>
              <a:srgbClr val="C0704F"/>
            </a:solidFill>
            <a:prstDash val="solid"/>
          </a:ln>
        </p:spPr>
      </p:sp>
      <p:sp>
        <p:nvSpPr>
          <p:cNvPr id="4" name="Text 2"/>
          <p:cNvSpPr/>
          <p:nvPr/>
        </p:nvSpPr>
        <p:spPr>
          <a:xfrm>
            <a:off x="822960" y="1005840"/>
            <a:ext cx="10545775" cy="640080"/>
          </a:xfrm>
          <a:prstGeom prst="rect">
            <a:avLst/>
          </a:prstGeom>
          <a:noFill/>
          <a:ln/>
        </p:spPr>
        <p:txBody>
          <a:bodyPr wrap="square" rtlCol="0" anchor="ctr"/>
          <a:lstStyle/>
          <a:p>
            <a:pPr algn="ctr" indent="0" marL="0">
              <a:buNone/>
            </a:pPr>
            <a:r>
              <a:rPr lang="en-US" sz="2800" b="1" dirty="0">
                <a:solidFill>
                  <a:srgbClr val="F7F1E4"/>
                </a:solidFill>
                <a:latin typeface="Cambria" pitchFamily="34" charset="0"/>
                <a:ea typeface="Cambria" pitchFamily="34" charset="-122"/>
                <a:cs typeface="Cambria" pitchFamily="34" charset="-120"/>
              </a:rPr>
              <a:t>Círculo y oración de cierre</a:t>
            </a:r>
            <a:endParaRPr lang="en-US" sz="2800" dirty="0"/>
          </a:p>
        </p:txBody>
      </p:sp>
      <p:sp>
        <p:nvSpPr>
          <p:cNvPr id="5" name="Text 3"/>
          <p:cNvSpPr/>
          <p:nvPr/>
        </p:nvSpPr>
        <p:spPr>
          <a:xfrm>
            <a:off x="822960" y="1600200"/>
            <a:ext cx="10545775" cy="365760"/>
          </a:xfrm>
          <a:prstGeom prst="rect">
            <a:avLst/>
          </a:prstGeom>
          <a:noFill/>
          <a:ln/>
        </p:spPr>
        <p:txBody>
          <a:bodyPr wrap="square" rtlCol="0" anchor="ctr"/>
          <a:lstStyle/>
          <a:p>
            <a:pPr algn="ctr" indent="0" marL="0">
              <a:buNone/>
            </a:pPr>
            <a:r>
              <a:rPr lang="en-US" sz="1300" i="1" dirty="0">
                <a:solidFill>
                  <a:srgbClr val="E4C77A"/>
                </a:solidFill>
                <a:latin typeface="Calibri" pitchFamily="34" charset="0"/>
                <a:ea typeface="Calibri" pitchFamily="34" charset="-122"/>
                <a:cs typeface="Calibri" pitchFamily="34" charset="-120"/>
              </a:rPr>
              <a:t>8:03 – 8:08 p. m.</a:t>
            </a:r>
            <a:endParaRPr lang="en-US" sz="1300" dirty="0"/>
          </a:p>
        </p:txBody>
      </p:sp>
      <p:sp>
        <p:nvSpPr>
          <p:cNvPr id="6" name="Text 4"/>
          <p:cNvSpPr/>
          <p:nvPr/>
        </p:nvSpPr>
        <p:spPr>
          <a:xfrm>
            <a:off x="1371600" y="2468880"/>
            <a:ext cx="9448495" cy="1554480"/>
          </a:xfrm>
          <a:prstGeom prst="rect">
            <a:avLst/>
          </a:prstGeom>
          <a:noFill/>
          <a:ln/>
        </p:spPr>
        <p:txBody>
          <a:bodyPr wrap="square" rtlCol="0" anchor="ctr"/>
          <a:lstStyle/>
          <a:p>
            <a:pPr algn="ctr" indent="0" marL="0">
              <a:buNone/>
            </a:pPr>
            <a:r>
              <a:rPr lang="en-US" sz="2200" i="1" dirty="0">
                <a:solidFill>
                  <a:srgbClr val="E4C77A"/>
                </a:solidFill>
                <a:latin typeface="Cambria" pitchFamily="34" charset="0"/>
                <a:ea typeface="Cambria" pitchFamily="34" charset="-122"/>
                <a:cs typeface="Cambria" pitchFamily="34" charset="-120"/>
              </a:rPr>
              <a:t>"Clama a mí, y yo te responderé,</a:t>
            </a:r>
            <a:endParaRPr lang="en-US" sz="2200" dirty="0"/>
          </a:p>
          <a:p>
            <a:pPr algn="ctr" indent="0" marL="0">
              <a:buNone/>
            </a:pPr>
            <a:r>
              <a:rPr lang="en-US" sz="2200" i="1" dirty="0">
                <a:solidFill>
                  <a:srgbClr val="E4C77A"/>
                </a:solidFill>
                <a:latin typeface="Cambria" pitchFamily="34" charset="0"/>
                <a:ea typeface="Cambria" pitchFamily="34" charset="-122"/>
                <a:cs typeface="Cambria" pitchFamily="34" charset="-120"/>
              </a:rPr>
              <a:t>y te enseñaré cosas grandes y ocultas</a:t>
            </a:r>
            <a:endParaRPr lang="en-US" sz="2200" dirty="0"/>
          </a:p>
          <a:p>
            <a:pPr algn="ctr" indent="0" marL="0">
              <a:buNone/>
            </a:pPr>
            <a:r>
              <a:rPr lang="en-US" sz="2200" i="1" dirty="0">
                <a:solidFill>
                  <a:srgbClr val="E4C77A"/>
                </a:solidFill>
                <a:latin typeface="Cambria" pitchFamily="34" charset="0"/>
                <a:ea typeface="Cambria" pitchFamily="34" charset="-122"/>
                <a:cs typeface="Cambria" pitchFamily="34" charset="-120"/>
              </a:rPr>
              <a:t>que tú no conoces."</a:t>
            </a:r>
            <a:endParaRPr lang="en-US" sz="2200" dirty="0"/>
          </a:p>
        </p:txBody>
      </p:sp>
      <p:sp>
        <p:nvSpPr>
          <p:cNvPr id="7" name="Text 5"/>
          <p:cNvSpPr/>
          <p:nvPr/>
        </p:nvSpPr>
        <p:spPr>
          <a:xfrm>
            <a:off x="1371600" y="3977640"/>
            <a:ext cx="9448495" cy="365760"/>
          </a:xfrm>
          <a:prstGeom prst="rect">
            <a:avLst/>
          </a:prstGeom>
          <a:noFill/>
          <a:ln/>
        </p:spPr>
        <p:txBody>
          <a:bodyPr wrap="square" rtlCol="0" anchor="ctr"/>
          <a:lstStyle/>
          <a:p>
            <a:pPr algn="ctr" indent="0" marL="0">
              <a:buNone/>
            </a:pPr>
            <a:r>
              <a:rPr lang="en-US" sz="1400" b="1" dirty="0">
                <a:solidFill>
                  <a:srgbClr val="F7F1E4"/>
                </a:solidFill>
                <a:latin typeface="Calibri" pitchFamily="34" charset="0"/>
                <a:ea typeface="Calibri" pitchFamily="34" charset="-122"/>
                <a:cs typeface="Calibri" pitchFamily="34" charset="-120"/>
              </a:rPr>
              <a:t>Jeremías 33:3</a:t>
            </a:r>
            <a:endParaRPr lang="en-US" sz="1400" dirty="0"/>
          </a:p>
        </p:txBody>
      </p:sp>
      <p:sp>
        <p:nvSpPr>
          <p:cNvPr id="8" name="Text 6"/>
          <p:cNvSpPr/>
          <p:nvPr/>
        </p:nvSpPr>
        <p:spPr>
          <a:xfrm>
            <a:off x="1371600" y="4800600"/>
            <a:ext cx="9448495" cy="457200"/>
          </a:xfrm>
          <a:prstGeom prst="rect">
            <a:avLst/>
          </a:prstGeom>
          <a:noFill/>
          <a:ln/>
        </p:spPr>
        <p:txBody>
          <a:bodyPr wrap="square" rtlCol="0" anchor="ctr"/>
          <a:lstStyle/>
          <a:p>
            <a:pPr algn="ctr" indent="0" marL="0">
              <a:buNone/>
            </a:pPr>
            <a:r>
              <a:rPr lang="en-US" sz="1500" i="1" dirty="0">
                <a:solidFill>
                  <a:srgbClr val="F7F1E4"/>
                </a:solidFill>
                <a:latin typeface="Cambria" pitchFamily="34" charset="0"/>
                <a:ea typeface="Cambria" pitchFamily="34" charset="-122"/>
                <a:cs typeface="Cambria" pitchFamily="34" charset="-120"/>
              </a:rPr>
              <a:t>"Desde el Profeta hasta la Revelación, siempre el protagonista es Jesús."</a:t>
            </a:r>
            <a:endParaRPr lang="en-US" sz="1500" dirty="0"/>
          </a:p>
        </p:txBody>
      </p:sp>
      <p:pic>
        <p:nvPicPr>
          <p:cNvPr id="9" name="Image 0" descr="/home/claude/ronda12_pptx/logo_big.png">    </p:cNvPr>
          <p:cNvPicPr>
            <a:picLocks noChangeAspect="1"/>
          </p:cNvPicPr>
          <p:nvPr/>
        </p:nvPicPr>
        <p:blipFill>
          <a:blip r:embed="rId1"/>
          <a:stretch>
            <a:fillRect/>
          </a:stretch>
        </p:blipFill>
        <p:spPr>
          <a:xfrm>
            <a:off x="5474056" y="5349240"/>
            <a:ext cx="1243584" cy="1261872"/>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2026-08-13T22:51:48Z</dcterms:created>
  <dcterms:modified xsi:type="dcterms:W3CDTF">2026-08-13T22:51:48Z</dcterms:modified>
</cp:coreProperties>
</file>